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260" r:id="rId3"/>
    <p:sldId id="261" r:id="rId4"/>
    <p:sldId id="262" r:id="rId5"/>
    <p:sldId id="263" r:id="rId6"/>
    <p:sldId id="256" r:id="rId7"/>
    <p:sldId id="265" r:id="rId8"/>
    <p:sldId id="266" r:id="rId9"/>
    <p:sldId id="267" r:id="rId10"/>
    <p:sldId id="264" r:id="rId11"/>
    <p:sldId id="268"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4" d="100"/>
          <a:sy n="84" d="100"/>
        </p:scale>
        <p:origin x="658"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6764D1-EFC7-4BB0-99D9-50AD854FF46E}" type="datetimeFigureOut">
              <a:rPr lang="en-IN" smtClean="0"/>
              <a:t>05-08-2026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1F7AB4-67C8-4434-93EA-7994D679B0C9}" type="slidenum">
              <a:rPr lang="en-IN" smtClean="0"/>
              <a:t>‹#›</a:t>
            </a:fld>
            <a:endParaRPr lang="en-IN"/>
          </a:p>
        </p:txBody>
      </p:sp>
    </p:spTree>
    <p:extLst>
      <p:ext uri="{BB962C8B-B14F-4D97-AF65-F5344CB8AC3E}">
        <p14:creationId xmlns:p14="http://schemas.microsoft.com/office/powerpoint/2010/main" val="3211055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42FCF-236E-4AEB-B295-9E11C896F2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6227C6-1741-4984-91EF-22549E644C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E06106-613E-4333-AF2D-E9AE76614701}"/>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E97A7157-E58E-4D2D-897F-0FC5DC4641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F0991E-3E7A-40FF-96D3-9326381A46D9}"/>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1879753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BE903-2273-4309-BB72-B6B00F7143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1DB15B-3D9F-4042-AA23-F7D705F416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4AE0E9-BA2E-41D5-929F-F725F6B6A5D4}"/>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2A509648-FD73-4AA5-8294-513FE4A5BD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7D3F04-2EE8-47BF-B548-A84EA64378BF}"/>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1559789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A949B-F8CA-4C2B-A979-0C9AE37973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54E1B22-96AB-4D96-81C3-4DB7210BB5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1422D7-D3B8-48FE-AFE4-1EB52AA10883}"/>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6BDFAC93-416C-4ABA-91FC-6317DD99C9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041BB3-036D-4472-937A-F71AF8704097}"/>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2142060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91B91-36D8-4EDA-B2D2-1DC49A7479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68DCAD-5171-4D56-83CA-926428C14D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2EFB5D-D0F8-4F67-8D28-4FAFED3E3E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AE0041-539D-4E68-8D4E-8E36524E0677}"/>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6" name="Footer Placeholder 5">
            <a:extLst>
              <a:ext uri="{FF2B5EF4-FFF2-40B4-BE49-F238E27FC236}">
                <a16:creationId xmlns:a16="http://schemas.microsoft.com/office/drawing/2014/main" id="{C2830A8C-2D12-4D46-AB21-35C963F5CA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8FEA39-587E-43B8-BCF0-F43494391ABD}"/>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3056371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D268-EA1A-497F-9883-696857C51F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19A73B-66E5-4EBA-A54C-E6A54114F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166F9A-BB9C-4DA5-AD0D-3330AD9E8F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499B84-04AA-44DB-ABCA-22DE708E34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9CDCE6-00BB-4AA6-A3ED-A78B62B35C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4A6797E-F667-4C20-A366-078D6D645BA9}"/>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8" name="Footer Placeholder 7">
            <a:extLst>
              <a:ext uri="{FF2B5EF4-FFF2-40B4-BE49-F238E27FC236}">
                <a16:creationId xmlns:a16="http://schemas.microsoft.com/office/drawing/2014/main" id="{E446FB08-B2BC-4CA8-A3F1-85084317E1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F417E1-B832-4B60-9F2E-83E3B48C4AE2}"/>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7928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69FBE-8847-483C-99AB-D3D2FB212B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865652-D750-4454-A0F8-19351C3852B0}"/>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4" name="Footer Placeholder 3">
            <a:extLst>
              <a:ext uri="{FF2B5EF4-FFF2-40B4-BE49-F238E27FC236}">
                <a16:creationId xmlns:a16="http://schemas.microsoft.com/office/drawing/2014/main" id="{B4B65382-C834-4FC4-9483-12189119F3E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B6B532-890D-4BE2-BFFA-D41982222490}"/>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940766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8EF80D-F951-45C5-812F-D93602CF1CC0}"/>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3" name="Footer Placeholder 2">
            <a:extLst>
              <a:ext uri="{FF2B5EF4-FFF2-40B4-BE49-F238E27FC236}">
                <a16:creationId xmlns:a16="http://schemas.microsoft.com/office/drawing/2014/main" id="{E21DF95A-3202-4FB3-BA10-4A24426A82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1A6EF31-B1EA-4D56-87E3-5518BAA3D228}"/>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3131710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60B09-539B-44FF-9A89-C154AF5A4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20387A-A448-4216-99F8-93A0D66FC5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11517A-0D44-4D7E-A49C-8F47EF5C06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8C057D-343F-4A4B-93BD-205B738AFD32}"/>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6" name="Footer Placeholder 5">
            <a:extLst>
              <a:ext uri="{FF2B5EF4-FFF2-40B4-BE49-F238E27FC236}">
                <a16:creationId xmlns:a16="http://schemas.microsoft.com/office/drawing/2014/main" id="{D40F0C43-8308-4BD4-902F-7358EC8314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7F34EE-4480-4DFB-A834-70963E3D854A}"/>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2076247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40EB3-3822-46B2-9239-190C818830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D5A7C3-729A-4A6D-B389-D11C9224B4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5DEFC7-7E87-4884-BD7B-31854F0026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62B843-62D6-4C2B-B80A-7448B1D3F581}"/>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6" name="Footer Placeholder 5">
            <a:extLst>
              <a:ext uri="{FF2B5EF4-FFF2-40B4-BE49-F238E27FC236}">
                <a16:creationId xmlns:a16="http://schemas.microsoft.com/office/drawing/2014/main" id="{0F6C1FFE-F880-4DCD-92A9-6205655C39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9A744B-6EEF-4F05-9D69-AC519F74AA25}"/>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2571198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B484E-9CE4-45CB-A02C-7C9108BF7C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8AE0C6-E153-489D-9117-6B7A90CD2A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643185-927F-40FF-9286-DBD3F97FD3AB}"/>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1DEFCB99-68BE-446E-A4A3-8AB8BD36C3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6CFCA1-53E0-4FA0-8388-2F52BF1B36C1}"/>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1956240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A6FBBA-3DFB-48B6-92DF-4B87E84DF5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EAEC3D-0720-41AD-B00A-546821C556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4EBB19-239D-4743-BAC7-FD79AD1121FC}"/>
              </a:ext>
            </a:extLst>
          </p:cNvPr>
          <p:cNvSpPr>
            <a:spLocks noGrp="1"/>
          </p:cNvSpPr>
          <p:nvPr>
            <p:ph type="dt" sz="half" idx="10"/>
          </p:nvPr>
        </p:nvSpPr>
        <p:spPr/>
        <p:txBody>
          <a:body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BE1F566B-6EB6-486C-92C4-28464490A9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9F9C5D-3F1D-4F9F-8768-381510E455CD}"/>
              </a:ext>
            </a:extLst>
          </p:cNvPr>
          <p:cNvSpPr>
            <a:spLocks noGrp="1"/>
          </p:cNvSpPr>
          <p:nvPr>
            <p:ph type="sldNum" sz="quarter" idx="12"/>
          </p:nvPr>
        </p:nvSpPr>
        <p:spPr/>
        <p:txBody>
          <a:bodyPr/>
          <a:lstStyle/>
          <a:p>
            <a:fld id="{DCB3260B-B86B-4A43-A90F-7B9A0158620B}" type="slidenum">
              <a:rPr lang="en-IN" smtClean="0"/>
              <a:t>‹#›</a:t>
            </a:fld>
            <a:endParaRPr lang="en-IN"/>
          </a:p>
        </p:txBody>
      </p:sp>
    </p:spTree>
    <p:extLst>
      <p:ext uri="{BB962C8B-B14F-4D97-AF65-F5344CB8AC3E}">
        <p14:creationId xmlns:p14="http://schemas.microsoft.com/office/powerpoint/2010/main" val="2225385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alpha val="95000"/>
            </a:srgbClr>
          </a:solidFill>
          <a:ln/>
        </p:spPr>
      </p:sp>
    </p:spTree>
    <p:extLst>
      <p:ext uri="{BB962C8B-B14F-4D97-AF65-F5344CB8AC3E}">
        <p14:creationId xmlns:p14="http://schemas.microsoft.com/office/powerpoint/2010/main" val="9965911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647487-2305-4AB9-B437-4DBCC8E3DF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69ECAB-FF67-4E4B-A8AD-D8BA56244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DF1A09-E311-41A7-8E7F-7D24893F7A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976637-6D24-449A-8483-F7AD8336B386}" type="datetimeFigureOut">
              <a:rPr lang="en-IN" smtClean="0"/>
              <a:t>05-08-2026</a:t>
            </a:fld>
            <a:endParaRPr lang="en-IN"/>
          </a:p>
        </p:txBody>
      </p:sp>
      <p:sp>
        <p:nvSpPr>
          <p:cNvPr id="5" name="Footer Placeholder 4">
            <a:extLst>
              <a:ext uri="{FF2B5EF4-FFF2-40B4-BE49-F238E27FC236}">
                <a16:creationId xmlns:a16="http://schemas.microsoft.com/office/drawing/2014/main" id="{FDAC45A4-F6CE-49D5-A22F-E8980167CF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FF4814E-8ECA-4A4D-BC73-33742E4B06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B3260B-B86B-4A43-A90F-7B9A0158620B}" type="slidenum">
              <a:rPr lang="en-IN" smtClean="0"/>
              <a:t>‹#›</a:t>
            </a:fld>
            <a:endParaRPr lang="en-IN"/>
          </a:p>
        </p:txBody>
      </p:sp>
    </p:spTree>
    <p:extLst>
      <p:ext uri="{BB962C8B-B14F-4D97-AF65-F5344CB8AC3E}">
        <p14:creationId xmlns:p14="http://schemas.microsoft.com/office/powerpoint/2010/main" val="359927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svg"/><Relationship Id="rId7" Type="http://schemas.openxmlformats.org/officeDocument/2006/relationships/image" Target="../media/image10.svg"/><Relationship Id="rId8" Type="http://schemas.openxmlformats.org/officeDocument/2006/relationships/image" Target="../media/image11.svg"/><Relationship Id="rId9" Type="http://schemas.openxmlformats.org/officeDocument/2006/relationships/image" Target="../media/image12.svg"/><Relationship Id="rId10" Type="http://schemas.openxmlformats.org/officeDocument/2006/relationships/image" Target="../media/image13.svg"/><Relationship Id="rId11" Type="http://schemas.openxmlformats.org/officeDocument/2006/relationships/image" Target="../media/image14.svg"/><Relationship Id="rId12" Type="http://schemas.openxmlformats.org/officeDocument/2006/relationships/image" Target="../media/image15.svg"/><Relationship Id="rId13" Type="http://schemas.openxmlformats.org/officeDocument/2006/relationships/image" Target="../media/image2.png"/><Relationship Id="rId1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084AD-8934-4B45-930C-CC3FDCA3AEAA}"/>
              </a:ext>
            </a:extLst>
          </p:cNvPr>
          <p:cNvSpPr>
            <a:spLocks noGrp="1"/>
          </p:cNvSpPr>
          <p:nvPr>
            <p:ph type="ctrTitle"/>
          </p:nvPr>
        </p:nvSpPr>
        <p:spPr>
          <a:xfrm>
            <a:off x="1524000" y="260350"/>
            <a:ext cx="9144000" cy="1339850"/>
          </a:xfrm>
        </p:spPr>
        <p:txBody>
          <a:bodyPr>
            <a:normAutofit fontScale="90000"/>
          </a:bodyPr>
          <a:lstStyle/>
          <a:p>
            <a:r>
              <a:rPr lang="en-US" b="1" dirty="0">
                <a:latin typeface="Times New Roman" pitchFamily="18" charset="0"/>
                <a:cs typeface="Times New Roman" pitchFamily="18" charset="0"/>
              </a:rPr>
              <a:t>Kadi </a:t>
            </a:r>
            <a:r>
              <a:rPr lang="en-US" b="1" dirty="0" err="1">
                <a:latin typeface="Times New Roman" pitchFamily="18" charset="0"/>
                <a:cs typeface="Times New Roman" pitchFamily="18" charset="0"/>
              </a:rPr>
              <a:t>Sarva</a:t>
            </a:r>
            <a:r>
              <a:rPr lang="en-US" b="1" dirty="0">
                <a:latin typeface="Times New Roman" pitchFamily="18" charset="0"/>
                <a:cs typeface="Times New Roman" pitchFamily="18" charset="0"/>
              </a:rPr>
              <a:t> Vishwavidyalaya</a:t>
            </a:r>
            <a:endParaRPr lang="en-IN" b="1" dirty="0">
              <a:latin typeface="Times New Roman" pitchFamily="18" charset="0"/>
              <a:cs typeface="Times New Roman" pitchFamily="18" charset="0"/>
            </a:endParaRPr>
          </a:p>
        </p:txBody>
      </p:sp>
      <p:sp>
        <p:nvSpPr>
          <p:cNvPr id="3" name="Subtitle 2">
            <a:extLst>
              <a:ext uri="{FF2B5EF4-FFF2-40B4-BE49-F238E27FC236}">
                <a16:creationId xmlns:a16="http://schemas.microsoft.com/office/drawing/2014/main" id="{6D4002AA-CE5E-4AC8-A65E-73B09D0E55FC}"/>
              </a:ext>
            </a:extLst>
          </p:cNvPr>
          <p:cNvSpPr>
            <a:spLocks noGrp="1"/>
          </p:cNvSpPr>
          <p:nvPr>
            <p:ph type="subTitle" idx="1"/>
          </p:nvPr>
        </p:nvSpPr>
        <p:spPr>
          <a:xfrm>
            <a:off x="1202924" y="1793538"/>
            <a:ext cx="9786151" cy="1851035"/>
          </a:xfrm>
        </p:spPr>
        <p:txBody>
          <a:bodyPr>
            <a:normAutofit/>
          </a:bodyPr>
          <a:lstStyle/>
          <a:p>
            <a:r>
              <a:rPr lang="en-US" sz="3600" b="1" dirty="0">
                <a:latin typeface="Times New Roman" pitchFamily="18" charset="0"/>
                <a:cs typeface="Times New Roman" pitchFamily="18" charset="0"/>
              </a:rPr>
              <a:t>S.V. Institute of Computer Studies - BCA</a:t>
            </a:r>
          </a:p>
          <a:p>
            <a:endParaRPr lang="en-IN" sz="800" b="1" dirty="0">
              <a:latin typeface="Times New Roman" pitchFamily="18" charset="0"/>
              <a:cs typeface="Times New Roman" pitchFamily="18" charset="0"/>
            </a:endParaRPr>
          </a:p>
        </p:txBody>
      </p:sp>
      <p:sp>
        <p:nvSpPr>
          <p:cNvPr id="4" name="Subtitle 2">
            <a:extLst>
              <a:ext uri="{FF2B5EF4-FFF2-40B4-BE49-F238E27FC236}">
                <a16:creationId xmlns:a16="http://schemas.microsoft.com/office/drawing/2014/main" id="{B76573AC-C4EB-4A88-AFA3-B54E95F44F14}"/>
              </a:ext>
            </a:extLst>
          </p:cNvPr>
          <p:cNvSpPr txBox="1">
            <a:spLocks/>
          </p:cNvSpPr>
          <p:nvPr/>
        </p:nvSpPr>
        <p:spPr>
          <a:xfrm>
            <a:off x="1222157" y="2430867"/>
            <a:ext cx="9144000" cy="165576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latin typeface="Times New Roman" pitchFamily="18" charset="0"/>
              <a:cs typeface="Times New Roman" pitchFamily="18" charset="0"/>
            </a:endParaRPr>
          </a:p>
          <a:p>
            <a:r>
              <a:rPr lang="en-US" sz="3100" b="1" dirty="0">
                <a:latin typeface="Times New Roman" pitchFamily="18" charset="0"/>
                <a:cs typeface="Times New Roman" pitchFamily="18" charset="0"/>
              </a:rPr>
              <a:t>BCA SEMESTER – V</a:t>
            </a:r>
          </a:p>
          <a:p>
            <a:r>
              <a:rPr lang="en-US" sz="3100" b="1" dirty="0">
                <a:latin typeface="Times New Roman" pitchFamily="18" charset="0"/>
                <a:cs typeface="Times New Roman" pitchFamily="18" charset="0"/>
              </a:rPr>
              <a:t>SEC205-3C</a:t>
            </a:r>
            <a:endParaRPr lang="en-US" dirty="0">
              <a:latin typeface="Times New Roman" pitchFamily="18" charset="0"/>
              <a:cs typeface="Times New Roman" pitchFamily="18" charset="0"/>
            </a:endParaRPr>
          </a:p>
          <a:p>
            <a:r>
              <a:rPr lang="en-US" sz="2900" b="1" dirty="0">
                <a:latin typeface="Times New Roman" pitchFamily="18" charset="0"/>
                <a:cs typeface="Times New Roman" pitchFamily="18" charset="0"/>
              </a:rPr>
              <a:t>“PROJECT WORK - V”</a:t>
            </a:r>
            <a:endParaRPr lang="en-IN" sz="4000" b="1" dirty="0">
              <a:latin typeface="Times New Roman" pitchFamily="18" charset="0"/>
              <a:cs typeface="Times New Roman" pitchFamily="18" charset="0"/>
            </a:endParaRPr>
          </a:p>
        </p:txBody>
      </p:sp>
      <p:sp>
        <p:nvSpPr>
          <p:cNvPr id="8" name="Subtitle 2">
            <a:extLst>
              <a:ext uri="{FF2B5EF4-FFF2-40B4-BE49-F238E27FC236}">
                <a16:creationId xmlns:a16="http://schemas.microsoft.com/office/drawing/2014/main" id="{8B18C603-C05C-46EA-BE5D-D50450DEAF83}"/>
              </a:ext>
            </a:extLst>
          </p:cNvPr>
          <p:cNvSpPr txBox="1">
            <a:spLocks/>
          </p:cNvSpPr>
          <p:nvPr/>
        </p:nvSpPr>
        <p:spPr>
          <a:xfrm>
            <a:off x="1330436" y="4086629"/>
            <a:ext cx="9144000" cy="11851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dirty="0">
                <a:latin typeface="Times New Roman" pitchFamily="18" charset="0"/>
                <a:cs typeface="Times New Roman" pitchFamily="18" charset="0"/>
              </a:rPr>
              <a:t>“</a:t>
            </a:r>
            <a:r>
              <a:rPr lang="en-IN" sz="3200" i="1" dirty="0"/>
              <a:t>Car Rental Management System</a:t>
            </a:r>
            <a:r>
              <a:rPr lang="en-US" sz="3200" dirty="0">
                <a:latin typeface="Times New Roman" pitchFamily="18" charset="0"/>
                <a:cs typeface="Times New Roman" pitchFamily="18" charset="0"/>
              </a:rPr>
              <a:t>”</a:t>
            </a:r>
          </a:p>
          <a:p>
            <a:endParaRPr lang="en-US" sz="3200" dirty="0">
              <a:highlight>
                <a:srgbClr val="FFFF00"/>
              </a:highlight>
              <a:latin typeface="Times New Roman" pitchFamily="18" charset="0"/>
              <a:cs typeface="Times New Roman" pitchFamily="18" charset="0"/>
            </a:endParaRPr>
          </a:p>
        </p:txBody>
      </p:sp>
      <p:graphicFrame>
        <p:nvGraphicFramePr>
          <p:cNvPr id="5" name="Table 5">
            <a:extLst>
              <a:ext uri="{FF2B5EF4-FFF2-40B4-BE49-F238E27FC236}">
                <a16:creationId xmlns:a16="http://schemas.microsoft.com/office/drawing/2014/main" id="{68881F8F-1C09-4DAB-AFBA-04DC1B8FE0FC}"/>
              </a:ext>
            </a:extLst>
          </p:cNvPr>
          <p:cNvGraphicFramePr>
            <a:graphicFrameLocks noGrp="1"/>
          </p:cNvGraphicFramePr>
          <p:nvPr>
            <p:extLst>
              <p:ext uri="{D42A27DB-BD31-4B8C-83A1-F6EECF244321}">
                <p14:modId xmlns:p14="http://schemas.microsoft.com/office/powerpoint/2010/main" val="4101827338"/>
              </p:ext>
            </p:extLst>
          </p:nvPr>
        </p:nvGraphicFramePr>
        <p:xfrm>
          <a:off x="2031999" y="4743450"/>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2455901"/>
                    </a:ext>
                  </a:extLst>
                </a:gridCol>
                <a:gridCol w="2709333">
                  <a:extLst>
                    <a:ext uri="{9D8B030D-6E8A-4147-A177-3AD203B41FA5}">
                      <a16:colId xmlns:a16="http://schemas.microsoft.com/office/drawing/2014/main" val="2114305551"/>
                    </a:ext>
                  </a:extLst>
                </a:gridCol>
                <a:gridCol w="2709333">
                  <a:extLst>
                    <a:ext uri="{9D8B030D-6E8A-4147-A177-3AD203B41FA5}">
                      <a16:colId xmlns:a16="http://schemas.microsoft.com/office/drawing/2014/main" val="1556322333"/>
                    </a:ext>
                  </a:extLst>
                </a:gridCol>
              </a:tblGrid>
              <a:tr h="370840">
                <a:tc>
                  <a:txBody>
                    <a:bodyPr/>
                    <a:lstStyle/>
                    <a:p>
                      <a:pPr algn="ctr"/>
                      <a:r>
                        <a:rPr lang="en-US" dirty="0"/>
                        <a:t>STUDENT  NAME</a:t>
                      </a:r>
                      <a:endParaRPr lang="en-IN" dirty="0"/>
                    </a:p>
                  </a:txBody>
                  <a:tcPr/>
                </a:tc>
                <a:tc>
                  <a:txBody>
                    <a:bodyPr/>
                    <a:lstStyle/>
                    <a:p>
                      <a:pPr algn="ctr"/>
                      <a:r>
                        <a:rPr lang="en-US" dirty="0"/>
                        <a:t>EXAM NUMBER</a:t>
                      </a:r>
                      <a:endParaRPr lang="en-IN" dirty="0"/>
                    </a:p>
                  </a:txBody>
                  <a:tcPr/>
                </a:tc>
                <a:tc>
                  <a:txBody>
                    <a:bodyPr/>
                    <a:lstStyle/>
                    <a:p>
                      <a:pPr algn="ctr"/>
                      <a:r>
                        <a:rPr lang="en-US" dirty="0"/>
                        <a:t>ENROLLMENT NUMBER</a:t>
                      </a:r>
                      <a:endParaRPr lang="en-IN" dirty="0"/>
                    </a:p>
                  </a:txBody>
                  <a:tcPr/>
                </a:tc>
                <a:extLst>
                  <a:ext uri="{0D108BD9-81ED-4DB2-BD59-A6C34878D82A}">
                    <a16:rowId xmlns:a16="http://schemas.microsoft.com/office/drawing/2014/main" val="3954846611"/>
                  </a:ext>
                </a:extLst>
              </a:tr>
              <a:tr h="370840">
                <a:tc>
                  <a:txBody>
                    <a:bodyPr/>
                    <a:lstStyle/>
                    <a:p>
                      <a:pPr algn="ctr"/>
                      <a:r>
                        <a:rPr lang="en-US" dirty="0"/>
                        <a:t>Rai Rajan Satyendra</a:t>
                      </a:r>
                      <a:endParaRPr lang="en-IN" dirty="0"/>
                    </a:p>
                  </a:txBody>
                  <a:tcPr/>
                </a:tc>
                <a:tc>
                  <a:txBody>
                    <a:bodyPr/>
                    <a:lstStyle/>
                    <a:p>
                      <a:pPr algn="ctr"/>
                      <a:endParaRPr lang="en-IN" dirty="0"/>
                    </a:p>
                  </a:txBody>
                  <a:tcPr/>
                </a:tc>
                <a:tc>
                  <a:txBody>
                    <a:bodyPr/>
                    <a:lstStyle/>
                    <a:p>
                      <a:pPr algn="ctr"/>
                      <a:r>
                        <a:rPr lang="en-US" dirty="0"/>
                        <a:t>24BCA53182</a:t>
                      </a:r>
                      <a:endParaRPr lang="en-IN" dirty="0"/>
                    </a:p>
                  </a:txBody>
                  <a:tcPr/>
                </a:tc>
                <a:extLst>
                  <a:ext uri="{0D108BD9-81ED-4DB2-BD59-A6C34878D82A}">
                    <a16:rowId xmlns:a16="http://schemas.microsoft.com/office/drawing/2014/main" val="436542407"/>
                  </a:ext>
                </a:extLst>
              </a:tr>
              <a:tr h="370840">
                <a:tc>
                  <a:txBody>
                    <a:bodyPr/>
                    <a:lstStyle/>
                    <a:p>
                      <a:pPr algn="ctr"/>
                      <a:r>
                        <a:rPr lang="en-US" dirty="0"/>
                        <a:t>Patel Harsh Jayshree </a:t>
                      </a:r>
                      <a:endParaRPr lang="en-IN" dirty="0"/>
                    </a:p>
                  </a:txBody>
                  <a:tcPr/>
                </a:tc>
                <a:tc>
                  <a:txBody>
                    <a:bodyPr/>
                    <a:lstStyle/>
                    <a:p>
                      <a:pPr algn="ctr"/>
                      <a:endParaRPr lang="en-IN" dirty="0"/>
                    </a:p>
                  </a:txBody>
                  <a:tcPr/>
                </a:tc>
                <a:tc>
                  <a:txBody>
                    <a:bodyPr/>
                    <a:lstStyle/>
                    <a:p>
                      <a:pPr algn="ctr"/>
                      <a:endParaRPr lang="en-IN" dirty="0"/>
                    </a:p>
                  </a:txBody>
                  <a:tcPr/>
                </a:tc>
                <a:extLst>
                  <a:ext uri="{0D108BD9-81ED-4DB2-BD59-A6C34878D82A}">
                    <a16:rowId xmlns:a16="http://schemas.microsoft.com/office/drawing/2014/main" val="2918045256"/>
                  </a:ext>
                </a:extLst>
              </a:tr>
              <a:tr h="370840">
                <a:tc>
                  <a:txBody>
                    <a:bodyPr/>
                    <a:lstStyle/>
                    <a:p>
                      <a:pPr algn="ctr"/>
                      <a:r>
                        <a:rPr lang="en-US" dirty="0"/>
                        <a:t>Panchal Jaynesh</a:t>
                      </a:r>
                      <a:endParaRPr lang="en-IN" dirty="0"/>
                    </a:p>
                  </a:txBody>
                  <a:tcPr/>
                </a:tc>
                <a:tc>
                  <a:txBody>
                    <a:bodyPr/>
                    <a:lstStyle/>
                    <a:p>
                      <a:pPr algn="ctr"/>
                      <a:endParaRPr lang="en-IN" dirty="0"/>
                    </a:p>
                  </a:txBody>
                  <a:tcPr/>
                </a:tc>
                <a:tc>
                  <a:txBody>
                    <a:bodyPr/>
                    <a:lstStyle/>
                    <a:p>
                      <a:pPr algn="ctr"/>
                      <a:endParaRPr lang="en-IN" dirty="0"/>
                    </a:p>
                  </a:txBody>
                  <a:tcPr/>
                </a:tc>
                <a:extLst>
                  <a:ext uri="{0D108BD9-81ED-4DB2-BD59-A6C34878D82A}">
                    <a16:rowId xmlns:a16="http://schemas.microsoft.com/office/drawing/2014/main" val="93445180"/>
                  </a:ext>
                </a:extLst>
              </a:tr>
              <a:tr h="370840">
                <a:tc>
                  <a:txBody>
                    <a:bodyPr/>
                    <a:lstStyle/>
                    <a:p>
                      <a:pPr algn="ctr"/>
                      <a:r>
                        <a:rPr lang="en-US" dirty="0"/>
                        <a:t>Thakur </a:t>
                      </a:r>
                      <a:r>
                        <a:rPr lang="en-US" dirty="0" err="1"/>
                        <a:t>Virajsinh</a:t>
                      </a:r>
                      <a:r>
                        <a:rPr lang="en-US" dirty="0"/>
                        <a:t> Ranjit</a:t>
                      </a:r>
                      <a:endParaRPr lang="en-IN" dirty="0"/>
                    </a:p>
                  </a:txBody>
                  <a:tcPr/>
                </a:tc>
                <a:tc>
                  <a:txBody>
                    <a:bodyPr/>
                    <a:lstStyle/>
                    <a:p>
                      <a:pPr algn="ctr"/>
                      <a:endParaRPr lang="en-IN" dirty="0"/>
                    </a:p>
                  </a:txBody>
                  <a:tcPr/>
                </a:tc>
                <a:tc>
                  <a:txBody>
                    <a:bodyPr/>
                    <a:lstStyle/>
                    <a:p>
                      <a:pPr algn="ctr"/>
                      <a:r>
                        <a:rPr lang="en-US" dirty="0"/>
                        <a:t>24BCA53225</a:t>
                      </a:r>
                      <a:endParaRPr lang="en-IN" dirty="0"/>
                    </a:p>
                  </a:txBody>
                  <a:tcPr/>
                </a:tc>
                <a:extLst>
                  <a:ext uri="{0D108BD9-81ED-4DB2-BD59-A6C34878D82A}">
                    <a16:rowId xmlns:a16="http://schemas.microsoft.com/office/drawing/2014/main" val="3420812538"/>
                  </a:ext>
                </a:extLst>
              </a:tr>
            </a:tbl>
          </a:graphicData>
        </a:graphic>
      </p:graphicFrame>
      <p:pic>
        <p:nvPicPr>
          <p:cNvPr id="7" name="Picture 4" descr="Kadi Sarva Vishwavidyalaya | Kar bhala Hoga Bhala">
            <a:extLst>
              <a:ext uri="{FF2B5EF4-FFF2-40B4-BE49-F238E27FC236}">
                <a16:creationId xmlns:a16="http://schemas.microsoft.com/office/drawing/2014/main" id="{BA33B77A-5DCE-57D7-932F-37EF88251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11" y="77762"/>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Users\staff\Downloads\SVICS LOGO.png">
            <a:extLst>
              <a:ext uri="{FF2B5EF4-FFF2-40B4-BE49-F238E27FC236}">
                <a16:creationId xmlns:a16="http://schemas.microsoft.com/office/drawing/2014/main" id="{C62BD332-00A9-AB68-C3A6-57739B1FDC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0168" y="115702"/>
            <a:ext cx="817778" cy="81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321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8AD82-8ECA-521A-2B80-41C706166539}"/>
              </a:ext>
            </a:extLst>
          </p:cNvPr>
          <p:cNvSpPr>
            <a:spLocks noGrp="1"/>
          </p:cNvSpPr>
          <p:nvPr>
            <p:ph type="title"/>
          </p:nvPr>
        </p:nvSpPr>
        <p:spPr>
          <a:xfrm>
            <a:off x="141765" y="816403"/>
            <a:ext cx="7318248" cy="1427099"/>
          </a:xfrm>
        </p:spPr>
        <p:txBody>
          <a:bodyPr>
            <a:normAutofit/>
          </a:bodyPr>
          <a:lstStyle/>
          <a:p>
            <a:r>
              <a:rPr lang="en-IN" sz="3200" b="1" dirty="0">
                <a:solidFill>
                  <a:schemeClr val="accent1"/>
                </a:solidFill>
                <a:latin typeface="Outfit Medium" panose="020B0604020202020204" charset="0"/>
                <a:cs typeface="Arial" panose="020B0604020202020204" pitchFamily="34" charset="0"/>
              </a:rPr>
              <a:t>Title</a:t>
            </a:r>
            <a:r>
              <a:rPr lang="en-IN" sz="4000" dirty="0"/>
              <a:t>:- </a:t>
            </a:r>
            <a:r>
              <a:rPr lang="en-IN" sz="3200" dirty="0">
                <a:solidFill>
                  <a:schemeClr val="tx1">
                    <a:lumMod val="85000"/>
                    <a:lumOff val="15000"/>
                  </a:schemeClr>
                </a:solidFill>
                <a:latin typeface="IBM Plex Sans" panose="020B0503050203000203" pitchFamily="34" charset="0"/>
                <a:cs typeface="Arial" panose="020B0604020202020204" pitchFamily="34" charset="0"/>
              </a:rPr>
              <a:t>Car Rental System</a:t>
            </a:r>
            <a:endParaRPr lang="en-IN" sz="3600" dirty="0">
              <a:solidFill>
                <a:schemeClr val="tx1">
                  <a:lumMod val="85000"/>
                  <a:lumOff val="15000"/>
                </a:schemeClr>
              </a:solidFill>
              <a:latin typeface="IBM Plex Sans" panose="020B0503050203000203" pitchFamily="34" charset="0"/>
              <a:cs typeface="Arial" panose="020B0604020202020204" pitchFamily="34" charset="0"/>
            </a:endParaRPr>
          </a:p>
        </p:txBody>
      </p:sp>
      <p:pic>
        <p:nvPicPr>
          <p:cNvPr id="4" name="Picture 3">
            <a:extLst>
              <a:ext uri="{FF2B5EF4-FFF2-40B4-BE49-F238E27FC236}">
                <a16:creationId xmlns:a16="http://schemas.microsoft.com/office/drawing/2014/main" id="{2F0C344A-AB99-70C9-84BA-F2E932F17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1594" y="740664"/>
            <a:ext cx="3957892" cy="5669280"/>
          </a:xfrm>
          <a:prstGeom prst="rect">
            <a:avLst/>
          </a:prstGeom>
        </p:spPr>
      </p:pic>
      <p:sp>
        <p:nvSpPr>
          <p:cNvPr id="5" name="TextBox 4">
            <a:extLst>
              <a:ext uri="{FF2B5EF4-FFF2-40B4-BE49-F238E27FC236}">
                <a16:creationId xmlns:a16="http://schemas.microsoft.com/office/drawing/2014/main" id="{5450D8FA-9C49-A5BA-338F-B289881A8F25}"/>
              </a:ext>
            </a:extLst>
          </p:cNvPr>
          <p:cNvSpPr txBox="1"/>
          <p:nvPr/>
        </p:nvSpPr>
        <p:spPr>
          <a:xfrm>
            <a:off x="141765" y="2054862"/>
            <a:ext cx="7231888" cy="4154984"/>
          </a:xfrm>
          <a:prstGeom prst="rect">
            <a:avLst/>
          </a:prstGeom>
          <a:noFill/>
        </p:spPr>
        <p:txBody>
          <a:bodyPr wrap="square" rtlCol="0">
            <a:spAutoFit/>
          </a:bodyPr>
          <a:lstStyle/>
          <a:p>
            <a:r>
              <a:rPr lang="en-US" sz="2800" b="1" dirty="0">
                <a:solidFill>
                  <a:schemeClr val="accent1"/>
                </a:solidFill>
                <a:latin typeface="Outfit Medium" panose="020B0604020202020204" charset="0"/>
                <a:cs typeface="Arial" panose="020B0604020202020204" pitchFamily="34" charset="0"/>
              </a:rPr>
              <a:t>Project Definition</a:t>
            </a:r>
          </a:p>
          <a:p>
            <a:pPr algn="just"/>
            <a:r>
              <a:rPr lang="en-US" sz="3200" dirty="0">
                <a:solidFill>
                  <a:schemeClr val="accent1"/>
                </a:solidFill>
                <a:latin typeface="Arial" panose="020B0604020202020204" pitchFamily="34" charset="0"/>
                <a:cs typeface="Arial" panose="020B0604020202020204" pitchFamily="34" charset="0"/>
              </a:rPr>
              <a:t>	</a:t>
            </a:r>
            <a:r>
              <a:rPr lang="en-IN" dirty="0">
                <a:latin typeface="IBM Plex Sans" panose="020F0502020204030204" pitchFamily="34" charset="0"/>
              </a:rPr>
              <a:t>The </a:t>
            </a:r>
            <a:r>
              <a:rPr lang="en-IN" b="1" dirty="0">
                <a:latin typeface="IBM Plex Sans" panose="020F0502020204030204" pitchFamily="34" charset="0"/>
              </a:rPr>
              <a:t>Car Rental System</a:t>
            </a:r>
            <a:r>
              <a:rPr lang="en-IN" dirty="0">
                <a:latin typeface="IBM Plex Sans" panose="020F0502020204030204" pitchFamily="34" charset="0"/>
              </a:rPr>
              <a:t> is a web-based application developed using </a:t>
            </a:r>
            <a:r>
              <a:rPr lang="en-IN" b="1" dirty="0">
                <a:latin typeface="IBM Plex Sans" panose="020F0502020204030204" pitchFamily="34" charset="0"/>
              </a:rPr>
              <a:t>PHP (Laravel Framework)</a:t>
            </a:r>
            <a:r>
              <a:rPr lang="en-IN" dirty="0">
                <a:latin typeface="IBM Plex Sans" panose="020F0502020204030204" pitchFamily="34" charset="0"/>
              </a:rPr>
              <a:t> and </a:t>
            </a:r>
            <a:r>
              <a:rPr lang="en-IN" b="1" dirty="0">
                <a:latin typeface="IBM Plex Sans" panose="020F0502020204030204" pitchFamily="34" charset="0"/>
              </a:rPr>
              <a:t>MySQL</a:t>
            </a:r>
            <a:r>
              <a:rPr lang="en-IN" dirty="0">
                <a:latin typeface="IBM Plex Sans" panose="020F0502020204030204" pitchFamily="34" charset="0"/>
              </a:rPr>
              <a:t> to automate the process of renting cars. The system enables customers to register, browse available vehicles, make online bookings, complete secure payments, and manage their rental history. It also provides administrators with tools to manage vehicles, customers, bookings, payments, maintenance records, and reports through a centralized dashboard. The project aims to replace manual rental operations with a secure, efficient, and user-friendly digital solution.</a:t>
            </a:r>
          </a:p>
          <a:p>
            <a:endParaRPr lang="en-US" sz="2000" dirty="0">
              <a:solidFill>
                <a:schemeClr val="accent1"/>
              </a:solidFill>
              <a:latin typeface="Arial" panose="020B0604020202020204" pitchFamily="34" charset="0"/>
              <a:cs typeface="Arial" panose="020B0604020202020204" pitchFamily="34" charset="0"/>
            </a:endParaRPr>
          </a:p>
          <a:p>
            <a:endParaRPr lang="en-US" dirty="0">
              <a:solidFill>
                <a:schemeClr val="accent1"/>
              </a:solidFill>
            </a:endParaRPr>
          </a:p>
          <a:p>
            <a:endParaRPr lang="en-IN" dirty="0"/>
          </a:p>
        </p:txBody>
      </p:sp>
      <p:pic>
        <p:nvPicPr>
          <p:cNvPr id="10" name="Picture 4" descr="Kadi Sarva Vishwavidyalaya | Kar bhala Hoga Bhala">
            <a:extLst>
              <a:ext uri="{FF2B5EF4-FFF2-40B4-BE49-F238E27FC236}">
                <a16:creationId xmlns:a16="http://schemas.microsoft.com/office/drawing/2014/main" id="{3C359D04-E00C-154B-1243-BF4E7E7EC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205" y="123449"/>
            <a:ext cx="890835" cy="91491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C:\Users\staff\Downloads\SVICS LOGO.png">
            <a:extLst>
              <a:ext uri="{FF2B5EF4-FFF2-40B4-BE49-F238E27FC236}">
                <a16:creationId xmlns:a16="http://schemas.microsoft.com/office/drawing/2014/main" id="{85FC5674-999C-B472-19AA-4B69A9BF6F8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39715" y="82578"/>
            <a:ext cx="959543" cy="95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944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277F6C-A89B-9E72-3182-0440614A9DE1}"/>
              </a:ext>
            </a:extLst>
          </p:cNvPr>
          <p:cNvSpPr txBox="1"/>
          <p:nvPr/>
        </p:nvSpPr>
        <p:spPr>
          <a:xfrm>
            <a:off x="3018721" y="203838"/>
            <a:ext cx="6096000" cy="584775"/>
          </a:xfrm>
          <a:prstGeom prst="rect">
            <a:avLst/>
          </a:prstGeom>
          <a:noFill/>
        </p:spPr>
        <p:txBody>
          <a:bodyPr wrap="square">
            <a:spAutoFit/>
          </a:bodyPr>
          <a:lstStyle/>
          <a:p>
            <a:pPr>
              <a:buNone/>
            </a:pPr>
            <a:r>
              <a:rPr lang="en-IN" sz="3200" b="1" dirty="0">
                <a:solidFill>
                  <a:schemeClr val="accent1"/>
                </a:solidFill>
              </a:rPr>
              <a:t>Project Scope / Objectives</a:t>
            </a:r>
          </a:p>
        </p:txBody>
      </p:sp>
      <p:sp>
        <p:nvSpPr>
          <p:cNvPr id="6" name="TextBox 5">
            <a:extLst>
              <a:ext uri="{FF2B5EF4-FFF2-40B4-BE49-F238E27FC236}">
                <a16:creationId xmlns:a16="http://schemas.microsoft.com/office/drawing/2014/main" id="{F3554B92-1DB7-DF91-B4FB-0FB6E2DFB431}"/>
              </a:ext>
            </a:extLst>
          </p:cNvPr>
          <p:cNvSpPr txBox="1"/>
          <p:nvPr/>
        </p:nvSpPr>
        <p:spPr>
          <a:xfrm>
            <a:off x="5336032" y="1104644"/>
            <a:ext cx="6471920" cy="4801314"/>
          </a:xfrm>
          <a:prstGeom prst="rect">
            <a:avLst/>
          </a:prstGeom>
          <a:noFill/>
          <a:ln w="12700">
            <a:noFill/>
          </a:ln>
        </p:spPr>
        <p:txBody>
          <a:bodyPr wrap="square">
            <a:spAutoFit/>
          </a:bodyPr>
          <a:lstStyle/>
          <a:p>
            <a:pPr>
              <a:buNone/>
            </a:pPr>
            <a:r>
              <a:rPr lang="en-IN" sz="2800" b="1" dirty="0">
                <a:latin typeface="Arial" panose="020B0604020202020204" pitchFamily="34" charset="0"/>
                <a:cs typeface="Arial" panose="020B0604020202020204" pitchFamily="34" charset="0"/>
              </a:rPr>
              <a:t>Objectives</a:t>
            </a:r>
            <a:r>
              <a:rPr lang="en-IN" sz="3600" b="1" dirty="0">
                <a:latin typeface="Arial" panose="020B0604020202020204" pitchFamily="34" charset="0"/>
                <a:cs typeface="Arial" panose="020B0604020202020204" pitchFamily="34" charset="0"/>
              </a:rPr>
              <a:t>:</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develop a secure and user-friendly online car rental system.</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allow customers to search and book available vehicles online.</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provide real-time vehicle availability and booking management.</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automate payment processing and booking confirmation.</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enable administrators to manage cars, customers, bookings, and payments efficiently.</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maintain vehicle maintenance schedules and service records.</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generate reports for bookings, payments, and vehicle usage.</a:t>
            </a:r>
          </a:p>
          <a:p>
            <a:pPr algn="just">
              <a:buFont typeface="Arial" panose="020B0604020202020204" pitchFamily="34" charset="0"/>
              <a:buChar char="•"/>
            </a:pPr>
            <a:r>
              <a:rPr lang="en-IN" dirty="0">
                <a:latin typeface="Arial" panose="020B0604020202020204" pitchFamily="34" charset="0"/>
                <a:cs typeface="Arial" panose="020B0604020202020204" pitchFamily="34" charset="0"/>
              </a:rPr>
              <a:t>To improve operational efficiency, reduce paperwork, and minimize human errors.</a:t>
            </a:r>
          </a:p>
        </p:txBody>
      </p:sp>
      <p:sp>
        <p:nvSpPr>
          <p:cNvPr id="8" name="TextBox 7">
            <a:extLst>
              <a:ext uri="{FF2B5EF4-FFF2-40B4-BE49-F238E27FC236}">
                <a16:creationId xmlns:a16="http://schemas.microsoft.com/office/drawing/2014/main" id="{3FCA0F60-8491-ECD2-1742-4D63BF39CEE0}"/>
              </a:ext>
            </a:extLst>
          </p:cNvPr>
          <p:cNvSpPr txBox="1"/>
          <p:nvPr/>
        </p:nvSpPr>
        <p:spPr>
          <a:xfrm>
            <a:off x="292608" y="1343061"/>
            <a:ext cx="4612640" cy="4031873"/>
          </a:xfrm>
          <a:custGeom>
            <a:avLst/>
            <a:gdLst>
              <a:gd name="csX0" fmla="*/ 0 w 4612640"/>
              <a:gd name="csY0" fmla="*/ 0 h 4031873"/>
              <a:gd name="csX1" fmla="*/ 4612640 w 4612640"/>
              <a:gd name="csY1" fmla="*/ 0 h 4031873"/>
              <a:gd name="csX2" fmla="*/ 4612640 w 4612640"/>
              <a:gd name="csY2" fmla="*/ 4031873 h 4031873"/>
              <a:gd name="csX3" fmla="*/ 0 w 4612640"/>
              <a:gd name="csY3" fmla="*/ 4031873 h 4031873"/>
              <a:gd name="csX4" fmla="*/ 0 w 4612640"/>
              <a:gd name="csY4" fmla="*/ 0 h 4031873"/>
            </a:gdLst>
            <a:ahLst/>
            <a:cxnLst>
              <a:cxn ang="0">
                <a:pos x="csX0" y="csY0"/>
              </a:cxn>
              <a:cxn ang="0">
                <a:pos x="csX1" y="csY1"/>
              </a:cxn>
              <a:cxn ang="0">
                <a:pos x="csX2" y="csY2"/>
              </a:cxn>
              <a:cxn ang="0">
                <a:pos x="csX3" y="csY3"/>
              </a:cxn>
              <a:cxn ang="0">
                <a:pos x="csX4" y="csY4"/>
              </a:cxn>
            </a:cxnLst>
            <a:rect l="l" t="t" r="r" b="b"/>
            <a:pathLst>
              <a:path w="4612640" h="4031873" fill="none" extrusionOk="0">
                <a:moveTo>
                  <a:pt x="0" y="0"/>
                </a:moveTo>
                <a:cubicBezTo>
                  <a:pt x="2213093" y="-33775"/>
                  <a:pt x="2756941" y="138873"/>
                  <a:pt x="4612640" y="0"/>
                </a:cubicBezTo>
                <a:cubicBezTo>
                  <a:pt x="4538869" y="1932456"/>
                  <a:pt x="4456757" y="2254792"/>
                  <a:pt x="4612640" y="4031873"/>
                </a:cubicBezTo>
                <a:cubicBezTo>
                  <a:pt x="3394808" y="3894543"/>
                  <a:pt x="1745974" y="3894017"/>
                  <a:pt x="0" y="4031873"/>
                </a:cubicBezTo>
                <a:cubicBezTo>
                  <a:pt x="152408" y="2646185"/>
                  <a:pt x="73868" y="872645"/>
                  <a:pt x="0" y="0"/>
                </a:cubicBezTo>
                <a:close/>
              </a:path>
              <a:path w="4612640" h="4031873" stroke="0" extrusionOk="0">
                <a:moveTo>
                  <a:pt x="0" y="0"/>
                </a:moveTo>
                <a:cubicBezTo>
                  <a:pt x="536491" y="-101487"/>
                  <a:pt x="2883444" y="-162162"/>
                  <a:pt x="4612640" y="0"/>
                </a:cubicBezTo>
                <a:cubicBezTo>
                  <a:pt x="4673353" y="883164"/>
                  <a:pt x="4551568" y="3242391"/>
                  <a:pt x="4612640" y="4031873"/>
                </a:cubicBezTo>
                <a:cubicBezTo>
                  <a:pt x="3526295" y="4081938"/>
                  <a:pt x="855215" y="3873424"/>
                  <a:pt x="0" y="4031873"/>
                </a:cubicBezTo>
                <a:cubicBezTo>
                  <a:pt x="-24452" y="3098999"/>
                  <a:pt x="-67663" y="1659331"/>
                  <a:pt x="0" y="0"/>
                </a:cubicBezTo>
                <a:close/>
              </a:path>
            </a:pathLst>
          </a:custGeom>
          <a:solidFill>
            <a:schemeClr val="accent5">
              <a:alpha val="50000"/>
            </a:schemeClr>
          </a:solidFill>
          <a:ln>
            <a:solidFill>
              <a:schemeClr val="accent5">
                <a:lumMod val="40000"/>
                <a:lumOff val="60000"/>
              </a:schemeClr>
            </a:solidFill>
            <a:extLst>
              <a:ext uri="{C807C97D-BFC1-408E-A445-0C87EB9F89A2}">
                <ask:lineSketchStyleProps xmlns:ask="http://schemas.microsoft.com/office/drawing/2018/sketchyshapes" sd="981765707">
                  <a:prstGeom prst="rect">
                    <a:avLst/>
                  </a:prstGeom>
                  <ask:type>
                    <ask:lineSketchCurved/>
                  </ask:type>
                </ask:lineSketchStyleProps>
              </a:ext>
            </a:extLst>
          </a:ln>
        </p:spPr>
        <p:style>
          <a:lnRef idx="0">
            <a:scrgbClr r="0" g="0" b="0"/>
          </a:lnRef>
          <a:fillRef idx="0">
            <a:scrgbClr r="0" g="0" b="0"/>
          </a:fillRef>
          <a:effectRef idx="0">
            <a:scrgbClr r="0" g="0" b="0"/>
          </a:effectRef>
          <a:fontRef idx="minor">
            <a:schemeClr val="lt1"/>
          </a:fontRef>
        </p:style>
        <p:txBody>
          <a:bodyPr wrap="square">
            <a:spAutoFit/>
          </a:bodyPr>
          <a:lstStyle/>
          <a:p>
            <a:pPr algn="just"/>
            <a:r>
              <a:rPr lang="en-IN" sz="3200" b="1" dirty="0">
                <a:solidFill>
                  <a:schemeClr val="tx1"/>
                </a:solidFill>
              </a:rPr>
              <a:t>Scope</a:t>
            </a:r>
            <a:r>
              <a:rPr lang="en-IN" sz="3600" b="1" dirty="0">
                <a:solidFill>
                  <a:schemeClr val="tx1"/>
                </a:solidFill>
              </a:rPr>
              <a:t>:</a:t>
            </a:r>
            <a:endParaRPr lang="en-IN" sz="3200" b="1" dirty="0">
              <a:solidFill>
                <a:schemeClr val="tx1"/>
              </a:solidFill>
            </a:endParaRPr>
          </a:p>
          <a:p>
            <a:pPr algn="just"/>
            <a:r>
              <a:rPr lang="en-IN" sz="2000" dirty="0">
                <a:solidFill>
                  <a:schemeClr val="tx1"/>
                </a:solidFill>
                <a:latin typeface="IBM Plex Sans" panose="020B0503050203000203" pitchFamily="34" charset="0"/>
                <a:cs typeface="Arial" panose="020B0604020202020204" pitchFamily="34" charset="0"/>
              </a:rPr>
              <a:t>The Car Rental Management System is designed to simplify and automate the vehicle rental process. The system covers customer registration, vehicle management, booking management, payment processing, maintenance tracking, and report generation. It provides role-based access for customers and administrators while ensuring secure authentication and efficient database management.</a:t>
            </a:r>
          </a:p>
        </p:txBody>
      </p:sp>
      <p:pic>
        <p:nvPicPr>
          <p:cNvPr id="4" name="Picture 4" descr="Kadi Sarva Vishwavidyalaya | Kar bhala Hoga Bhala">
            <a:extLst>
              <a:ext uri="{FF2B5EF4-FFF2-40B4-BE49-F238E27FC236}">
                <a16:creationId xmlns:a16="http://schemas.microsoft.com/office/drawing/2014/main" id="{5D0368FF-B810-A0E8-E3B8-5303D53AC7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 y="123773"/>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staff\Downloads\SVICS LOGO.png">
            <a:extLst>
              <a:ext uri="{FF2B5EF4-FFF2-40B4-BE49-F238E27FC236}">
                <a16:creationId xmlns:a16="http://schemas.microsoft.com/office/drawing/2014/main" id="{341B548B-4766-F9FC-FB0D-5AAFEE8741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64494" y="88940"/>
            <a:ext cx="817778" cy="81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834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5B3F1B90-0F9D-E502-EB06-0D1E1294BCCF}"/>
              </a:ext>
            </a:extLst>
          </p:cNvPr>
          <p:cNvPicPr>
            <a:picLocks noChangeAspect="1"/>
          </p:cNvPicPr>
          <p:nvPr/>
        </p:nvPicPr>
        <p:blipFill>
          <a:blip r:embed="rId2"/>
          <a:stretch>
            <a:fillRect/>
          </a:stretch>
        </p:blipFill>
        <p:spPr>
          <a:xfrm>
            <a:off x="1915160" y="4828031"/>
            <a:ext cx="8361679" cy="3271011"/>
          </a:xfrm>
          <a:prstGeom prst="rect">
            <a:avLst/>
          </a:prstGeom>
        </p:spPr>
      </p:pic>
      <p:sp>
        <p:nvSpPr>
          <p:cNvPr id="5" name="TextBox 4">
            <a:extLst>
              <a:ext uri="{FF2B5EF4-FFF2-40B4-BE49-F238E27FC236}">
                <a16:creationId xmlns:a16="http://schemas.microsoft.com/office/drawing/2014/main" id="{3C438DE5-8C5F-EABA-E08D-971A31845C7D}"/>
              </a:ext>
            </a:extLst>
          </p:cNvPr>
          <p:cNvSpPr txBox="1"/>
          <p:nvPr/>
        </p:nvSpPr>
        <p:spPr>
          <a:xfrm>
            <a:off x="109728" y="966926"/>
            <a:ext cx="6096000" cy="523220"/>
          </a:xfrm>
          <a:prstGeom prst="rect">
            <a:avLst/>
          </a:prstGeom>
          <a:noFill/>
        </p:spPr>
        <p:txBody>
          <a:bodyPr wrap="square">
            <a:spAutoFit/>
          </a:bodyPr>
          <a:lstStyle/>
          <a:p>
            <a:pPr marL="0" indent="0" algn="l">
              <a:lnSpc>
                <a:spcPct val="104000"/>
              </a:lnSpc>
              <a:buNone/>
            </a:pPr>
            <a:r>
              <a:rPr lang="en-US" sz="2800" b="1" dirty="0">
                <a:solidFill>
                  <a:srgbClr val="3F6FF3"/>
                </a:solidFill>
                <a:latin typeface="Outfit Medium" pitchFamily="34" charset="0"/>
                <a:ea typeface="Outfit Medium" pitchFamily="34" charset="-122"/>
                <a:cs typeface="Outfit Medium" pitchFamily="34" charset="-120"/>
              </a:rPr>
              <a:t>Study of Existing System</a:t>
            </a:r>
            <a:endParaRPr lang="en-US" sz="2800" b="1" dirty="0"/>
          </a:p>
        </p:txBody>
      </p:sp>
      <p:sp>
        <p:nvSpPr>
          <p:cNvPr id="7" name="Text 1">
            <a:extLst>
              <a:ext uri="{FF2B5EF4-FFF2-40B4-BE49-F238E27FC236}">
                <a16:creationId xmlns:a16="http://schemas.microsoft.com/office/drawing/2014/main" id="{84AEAAFD-E1D6-E947-BB87-CADEA2F9964A}"/>
              </a:ext>
            </a:extLst>
          </p:cNvPr>
          <p:cNvSpPr/>
          <p:nvPr/>
        </p:nvSpPr>
        <p:spPr>
          <a:xfrm>
            <a:off x="489338" y="1490146"/>
            <a:ext cx="11360601" cy="3877708"/>
          </a:xfrm>
          <a:prstGeom prst="rect">
            <a:avLst/>
          </a:prstGeom>
          <a:noFill/>
          <a:ln/>
        </p:spPr>
        <p:txBody>
          <a:bodyPr wrap="square" lIns="0" tIns="0" rIns="0" bIns="0" rtlCol="0" anchor="t">
            <a:normAutofit/>
          </a:bodyPr>
          <a:lstStyle/>
          <a:p>
            <a:pPr marL="0" indent="0" algn="just">
              <a:lnSpc>
                <a:spcPct val="109000"/>
              </a:lnSpc>
              <a:spcAft>
                <a:spcPts val="500"/>
              </a:spcAft>
              <a:buNone/>
            </a:pPr>
            <a:r>
              <a:rPr lang="en-US" dirty="0">
                <a:latin typeface="IBM Plex Sans" pitchFamily="34" charset="0"/>
                <a:ea typeface="IBM Plex Sans" pitchFamily="34" charset="-122"/>
                <a:cs typeface="IBM Plex Sans" pitchFamily="34" charset="-120"/>
              </a:rPr>
              <a:t>The existing car rental system in many small and medium rental businesses is largely manual. Customers visit the rental office or contact the company by phone to check vehicle availability and make reservations. Rental records, customer information, and payment details are often maintained in paper files or spreadsheets. This process is time-consuming, error-prone, and difficult to manage as the business grows.</a:t>
            </a:r>
            <a:endParaRPr lang="en-US" dirty="0"/>
          </a:p>
          <a:p>
            <a:pPr marL="0" indent="0" algn="just">
              <a:lnSpc>
                <a:spcPct val="109000"/>
              </a:lnSpc>
              <a:spcAft>
                <a:spcPts val="500"/>
              </a:spcAft>
              <a:buNone/>
            </a:pPr>
            <a:r>
              <a:rPr lang="en-US" dirty="0">
                <a:latin typeface="IBM Plex Sans" pitchFamily="34" charset="0"/>
                <a:ea typeface="IBM Plex Sans" pitchFamily="34" charset="-122"/>
                <a:cs typeface="IBM Plex Sans" pitchFamily="34" charset="-120"/>
              </a:rPr>
              <a:t>Some existing online rental systems provide basic booking features but may lack advanced functionalities such as maintenance scheduling, role-based access, online payments, automated notifications, and comprehensive reporting. As a result, both customers and administrators face delays and operational challenges.</a:t>
            </a:r>
            <a:endParaRPr lang="en-US" dirty="0"/>
          </a:p>
          <a:p>
            <a:pPr marL="0" indent="0" algn="just">
              <a:lnSpc>
                <a:spcPct val="109000"/>
              </a:lnSpc>
              <a:buNone/>
            </a:pPr>
            <a:r>
              <a:rPr lang="en-US" dirty="0">
                <a:latin typeface="IBM Plex Sans" pitchFamily="34" charset="0"/>
                <a:ea typeface="IBM Plex Sans" pitchFamily="34" charset="-122"/>
                <a:cs typeface="IBM Plex Sans" pitchFamily="34" charset="-120"/>
              </a:rPr>
              <a:t>The proposed Car Rental Management System overcomes these limitations by providing an integrated web application with online booking, secure authentication, payment integration, vehicle management, maintenance tracking, and automated report generation.</a:t>
            </a:r>
            <a:endParaRPr lang="en-US" dirty="0"/>
          </a:p>
        </p:txBody>
      </p:sp>
      <p:pic>
        <p:nvPicPr>
          <p:cNvPr id="4" name="Picture 4" descr="Kadi Sarva Vishwavidyalaya | Kar bhala Hoga Bhala">
            <a:extLst>
              <a:ext uri="{FF2B5EF4-FFF2-40B4-BE49-F238E27FC236}">
                <a16:creationId xmlns:a16="http://schemas.microsoft.com/office/drawing/2014/main" id="{252DD9D6-C07E-9892-E073-910218B08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 y="106356"/>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staff\Downloads\SVICS LOGO.png">
            <a:extLst>
              <a:ext uri="{FF2B5EF4-FFF2-40B4-BE49-F238E27FC236}">
                <a16:creationId xmlns:a16="http://schemas.microsoft.com/office/drawing/2014/main" id="{A4E26377-D81E-B31F-F319-245B555704A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64494" y="88939"/>
            <a:ext cx="817778" cy="81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051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2F84263-43B3-A945-8FB9-41488BD1DC99}"/>
              </a:ext>
            </a:extLst>
          </p:cNvPr>
          <p:cNvSpPr/>
          <p:nvPr/>
        </p:nvSpPr>
        <p:spPr>
          <a:xfrm>
            <a:off x="2709277" y="260611"/>
            <a:ext cx="8151763" cy="442987"/>
          </a:xfrm>
          <a:prstGeom prst="rect">
            <a:avLst/>
          </a:prstGeom>
          <a:noFill/>
          <a:ln/>
        </p:spPr>
        <p:txBody>
          <a:bodyPr wrap="none" lIns="0" tIns="0" rIns="0" bIns="0" rtlCol="0" anchor="t"/>
          <a:lstStyle/>
          <a:p>
            <a:pPr marL="0" indent="0" algn="l">
              <a:lnSpc>
                <a:spcPct val="104000"/>
              </a:lnSpc>
              <a:buNone/>
            </a:pPr>
            <a:r>
              <a:rPr lang="en-US" sz="2800" b="1" dirty="0">
                <a:solidFill>
                  <a:srgbClr val="3F6FF3"/>
                </a:solidFill>
                <a:latin typeface="Outfit Medium" pitchFamily="34" charset="0"/>
                <a:ea typeface="Outfit Medium" pitchFamily="34" charset="-122"/>
                <a:cs typeface="Outfit Medium" pitchFamily="34" charset="-120"/>
              </a:rPr>
              <a:t>Limitations of Existing System</a:t>
            </a:r>
            <a:endParaRPr lang="en-US" sz="2800" b="1" dirty="0"/>
          </a:p>
        </p:txBody>
      </p:sp>
      <p:sp>
        <p:nvSpPr>
          <p:cNvPr id="5" name="Text 1">
            <a:extLst>
              <a:ext uri="{FF2B5EF4-FFF2-40B4-BE49-F238E27FC236}">
                <a16:creationId xmlns:a16="http://schemas.microsoft.com/office/drawing/2014/main" id="{9B25305B-857B-2AC1-B68B-0FB4E6EE60F9}"/>
              </a:ext>
            </a:extLst>
          </p:cNvPr>
          <p:cNvSpPr/>
          <p:nvPr/>
        </p:nvSpPr>
        <p:spPr>
          <a:xfrm>
            <a:off x="496118" y="1164002"/>
            <a:ext cx="10568121" cy="4529996"/>
          </a:xfrm>
          <a:prstGeom prst="rect">
            <a:avLst/>
          </a:prstGeom>
          <a:noFill/>
          <a:ln/>
        </p:spPr>
        <p:txBody>
          <a:bodyPr wrap="square" lIns="0" tIns="0" rIns="0" bIns="0" rtlCol="0" anchor="t">
            <a:normAutofit/>
          </a:bodyPr>
          <a:lstStyle/>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Manual booking process is slow and inefficient.</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High possibility of human errors in maintaining records.</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Difficulty in tracking vehicle availability in real time.</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Paper-based records can be lost or damaged.</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Limited access to customer booking history.</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No automated payment or booking confirmation.</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Poor management of vehicle maintenance schedules.</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Report generation requires significant manual effort.</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Limited accessibility, as customers must visit or contact the rental office.</a:t>
            </a:r>
            <a:endParaRPr lang="en-US" dirty="0"/>
          </a:p>
          <a:p>
            <a:pPr marL="223520" indent="-223520">
              <a:lnSpc>
                <a:spcPct val="133000"/>
              </a:lnSpc>
              <a:buSzPct val="100000"/>
              <a:buChar char="•"/>
            </a:pPr>
            <a:r>
              <a:rPr lang="en-US" dirty="0">
                <a:latin typeface="IBM Plex Sans" pitchFamily="34" charset="0"/>
                <a:ea typeface="IBM Plex Sans" pitchFamily="34" charset="-122"/>
                <a:cs typeface="IBM Plex Sans" pitchFamily="34" charset="-120"/>
              </a:rPr>
              <a:t>Lack of centralized data management and security.</a:t>
            </a:r>
            <a:endParaRPr lang="en-US" dirty="0"/>
          </a:p>
        </p:txBody>
      </p:sp>
      <p:sp>
        <p:nvSpPr>
          <p:cNvPr id="7" name="Text 2">
            <a:extLst>
              <a:ext uri="{FF2B5EF4-FFF2-40B4-BE49-F238E27FC236}">
                <a16:creationId xmlns:a16="http://schemas.microsoft.com/office/drawing/2014/main" id="{0726EB9C-A21A-0871-A9BC-3A98D3008C27}"/>
              </a:ext>
            </a:extLst>
          </p:cNvPr>
          <p:cNvSpPr/>
          <p:nvPr/>
        </p:nvSpPr>
        <p:spPr>
          <a:xfrm>
            <a:off x="116508" y="5136106"/>
            <a:ext cx="10568121" cy="832502"/>
          </a:xfrm>
          <a:prstGeom prst="rect">
            <a:avLst/>
          </a:prstGeom>
          <a:noFill/>
          <a:ln/>
        </p:spPr>
        <p:txBody>
          <a:bodyPr wrap="square" lIns="0" tIns="0" rIns="0" bIns="0" rtlCol="0" anchor="t">
            <a:normAutofit/>
          </a:bodyPr>
          <a:lstStyle/>
          <a:p>
            <a:pPr marL="0" indent="0" algn="l">
              <a:lnSpc>
                <a:spcPct val="133000"/>
              </a:lnSpc>
              <a:buNone/>
            </a:pPr>
            <a:r>
              <a:rPr lang="en-US" sz="2000" dirty="0">
                <a:latin typeface="IBM Plex Sans" pitchFamily="34" charset="0"/>
                <a:ea typeface="IBM Plex Sans" pitchFamily="34" charset="-122"/>
                <a:cs typeface="IBM Plex Sans" pitchFamily="34" charset="-120"/>
              </a:rPr>
              <a:t>These limitations highlight the need for a modern, web-based Car Rental Management System that improves efficiency, accuracy, security, and customer satisfaction.</a:t>
            </a:r>
            <a:endParaRPr lang="en-US" sz="2000" dirty="0"/>
          </a:p>
        </p:txBody>
      </p:sp>
      <p:pic>
        <p:nvPicPr>
          <p:cNvPr id="4" name="Picture 4" descr="Kadi Sarva Vishwavidyalaya | Kar bhala Hoga Bhala">
            <a:extLst>
              <a:ext uri="{FF2B5EF4-FFF2-40B4-BE49-F238E27FC236}">
                <a16:creationId xmlns:a16="http://schemas.microsoft.com/office/drawing/2014/main" id="{7F831521-B146-A45C-E8BC-07032E98B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08" y="109652"/>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staff\Downloads\SVICS LOGO.png">
            <a:extLst>
              <a:ext uri="{FF2B5EF4-FFF2-40B4-BE49-F238E27FC236}">
                <a16:creationId xmlns:a16="http://schemas.microsoft.com/office/drawing/2014/main" id="{6DB9BB28-2F27-4821-CD85-07D7E134CF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45065" y="74819"/>
            <a:ext cx="817778" cy="814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349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00446" y="634510"/>
            <a:ext cx="6191107" cy="526057"/>
          </a:xfrm>
          <a:prstGeom prst="rect">
            <a:avLst/>
          </a:prstGeom>
          <a:noFill/>
          <a:ln/>
        </p:spPr>
        <p:txBody>
          <a:bodyPr wrap="none" lIns="0" tIns="0" rIns="0" bIns="0" rtlCol="0" anchor="t"/>
          <a:lstStyle/>
          <a:p>
            <a:pPr algn="ctr">
              <a:lnSpc>
                <a:spcPct val="104000"/>
              </a:lnSpc>
            </a:pPr>
            <a:r>
              <a:rPr lang="en-US" sz="2800" dirty="0">
                <a:solidFill>
                  <a:srgbClr val="3F6FF3"/>
                </a:solidFill>
                <a:latin typeface="Outfit Medium" pitchFamily="34" charset="0"/>
                <a:ea typeface="Outfit Medium" pitchFamily="34" charset="-122"/>
                <a:cs typeface="Outfit Medium" pitchFamily="34" charset="-120"/>
              </a:rPr>
              <a:t>Existing System vs Proposed System</a:t>
            </a:r>
            <a:endParaRPr lang="en-US" sz="2800" dirty="0"/>
          </a:p>
        </p:txBody>
      </p:sp>
      <p:sp>
        <p:nvSpPr>
          <p:cNvPr id="3" name="Shape 1"/>
          <p:cNvSpPr/>
          <p:nvPr/>
        </p:nvSpPr>
        <p:spPr>
          <a:xfrm>
            <a:off x="661493" y="1345705"/>
            <a:ext cx="10869017" cy="4994076"/>
          </a:xfrm>
          <a:prstGeom prst="roundRect">
            <a:avLst>
              <a:gd name="adj" fmla="val 3034"/>
            </a:avLst>
          </a:prstGeom>
          <a:noFill/>
          <a:ln w="4763">
            <a:solidFill>
              <a:srgbClr val="000000">
                <a:alpha val="8000"/>
              </a:srgbClr>
            </a:solidFill>
            <a:prstDash val="solid"/>
          </a:ln>
        </p:spPr>
      </p:sp>
      <p:sp>
        <p:nvSpPr>
          <p:cNvPr id="4" name="Shape 2"/>
          <p:cNvSpPr/>
          <p:nvPr/>
        </p:nvSpPr>
        <p:spPr>
          <a:xfrm>
            <a:off x="661493" y="1802309"/>
            <a:ext cx="10869017" cy="10521"/>
          </a:xfrm>
          <a:prstGeom prst="rect">
            <a:avLst/>
          </a:prstGeom>
          <a:solidFill>
            <a:srgbClr val="000000">
              <a:alpha val="8000"/>
            </a:srgbClr>
          </a:solidFill>
          <a:ln/>
        </p:spPr>
      </p:sp>
      <p:sp>
        <p:nvSpPr>
          <p:cNvPr id="5" name="Shape 3"/>
          <p:cNvSpPr/>
          <p:nvPr/>
        </p:nvSpPr>
        <p:spPr>
          <a:xfrm>
            <a:off x="661493" y="2255740"/>
            <a:ext cx="10869017" cy="10521"/>
          </a:xfrm>
          <a:prstGeom prst="rect">
            <a:avLst/>
          </a:prstGeom>
          <a:solidFill>
            <a:srgbClr val="000000">
              <a:alpha val="8000"/>
            </a:srgbClr>
          </a:solidFill>
          <a:ln/>
        </p:spPr>
      </p:sp>
      <p:sp>
        <p:nvSpPr>
          <p:cNvPr id="6" name="Shape 4"/>
          <p:cNvSpPr/>
          <p:nvPr/>
        </p:nvSpPr>
        <p:spPr>
          <a:xfrm>
            <a:off x="661493" y="2709169"/>
            <a:ext cx="10869017" cy="10521"/>
          </a:xfrm>
          <a:prstGeom prst="rect">
            <a:avLst/>
          </a:prstGeom>
          <a:solidFill>
            <a:srgbClr val="000000">
              <a:alpha val="8000"/>
            </a:srgbClr>
          </a:solidFill>
          <a:ln/>
        </p:spPr>
      </p:sp>
      <p:sp>
        <p:nvSpPr>
          <p:cNvPr id="7" name="Shape 5"/>
          <p:cNvSpPr/>
          <p:nvPr/>
        </p:nvSpPr>
        <p:spPr>
          <a:xfrm>
            <a:off x="661493" y="3162598"/>
            <a:ext cx="10869017" cy="10521"/>
          </a:xfrm>
          <a:prstGeom prst="rect">
            <a:avLst/>
          </a:prstGeom>
          <a:solidFill>
            <a:srgbClr val="000000">
              <a:alpha val="8000"/>
            </a:srgbClr>
          </a:solidFill>
          <a:ln/>
        </p:spPr>
      </p:sp>
      <p:sp>
        <p:nvSpPr>
          <p:cNvPr id="8" name="Shape 6"/>
          <p:cNvSpPr/>
          <p:nvPr/>
        </p:nvSpPr>
        <p:spPr>
          <a:xfrm>
            <a:off x="661493" y="3616029"/>
            <a:ext cx="10869017" cy="10521"/>
          </a:xfrm>
          <a:prstGeom prst="rect">
            <a:avLst/>
          </a:prstGeom>
          <a:solidFill>
            <a:srgbClr val="000000">
              <a:alpha val="8000"/>
            </a:srgbClr>
          </a:solidFill>
          <a:ln/>
        </p:spPr>
      </p:sp>
      <p:sp>
        <p:nvSpPr>
          <p:cNvPr id="9" name="Shape 7"/>
          <p:cNvSpPr/>
          <p:nvPr/>
        </p:nvSpPr>
        <p:spPr>
          <a:xfrm>
            <a:off x="661493" y="4069458"/>
            <a:ext cx="10869017" cy="10521"/>
          </a:xfrm>
          <a:prstGeom prst="rect">
            <a:avLst/>
          </a:prstGeom>
          <a:solidFill>
            <a:srgbClr val="000000">
              <a:alpha val="8000"/>
            </a:srgbClr>
          </a:solidFill>
          <a:ln/>
        </p:spPr>
      </p:sp>
      <p:sp>
        <p:nvSpPr>
          <p:cNvPr id="10" name="Shape 8"/>
          <p:cNvSpPr/>
          <p:nvPr/>
        </p:nvSpPr>
        <p:spPr>
          <a:xfrm>
            <a:off x="661493" y="4522888"/>
            <a:ext cx="10869017" cy="10521"/>
          </a:xfrm>
          <a:prstGeom prst="rect">
            <a:avLst/>
          </a:prstGeom>
          <a:solidFill>
            <a:srgbClr val="000000">
              <a:alpha val="8000"/>
            </a:srgbClr>
          </a:solidFill>
          <a:ln/>
        </p:spPr>
      </p:sp>
      <p:sp>
        <p:nvSpPr>
          <p:cNvPr id="11" name="Shape 9"/>
          <p:cNvSpPr/>
          <p:nvPr/>
        </p:nvSpPr>
        <p:spPr>
          <a:xfrm>
            <a:off x="661493" y="4976317"/>
            <a:ext cx="10869017" cy="10521"/>
          </a:xfrm>
          <a:prstGeom prst="rect">
            <a:avLst/>
          </a:prstGeom>
          <a:solidFill>
            <a:srgbClr val="000000">
              <a:alpha val="8000"/>
            </a:srgbClr>
          </a:solidFill>
          <a:ln/>
        </p:spPr>
      </p:sp>
      <p:sp>
        <p:nvSpPr>
          <p:cNvPr id="12" name="Shape 10"/>
          <p:cNvSpPr/>
          <p:nvPr/>
        </p:nvSpPr>
        <p:spPr>
          <a:xfrm>
            <a:off x="661493" y="5429748"/>
            <a:ext cx="10869017" cy="10521"/>
          </a:xfrm>
          <a:prstGeom prst="rect">
            <a:avLst/>
          </a:prstGeom>
          <a:solidFill>
            <a:srgbClr val="000000">
              <a:alpha val="8000"/>
            </a:srgbClr>
          </a:solidFill>
          <a:ln/>
        </p:spPr>
      </p:sp>
      <p:sp>
        <p:nvSpPr>
          <p:cNvPr id="13" name="Shape 11"/>
          <p:cNvSpPr/>
          <p:nvPr/>
        </p:nvSpPr>
        <p:spPr>
          <a:xfrm>
            <a:off x="661493" y="5883177"/>
            <a:ext cx="10869017" cy="10521"/>
          </a:xfrm>
          <a:prstGeom prst="rect">
            <a:avLst/>
          </a:prstGeom>
          <a:solidFill>
            <a:srgbClr val="000000">
              <a:alpha val="8000"/>
            </a:srgbClr>
          </a:solidFill>
          <a:ln/>
        </p:spPr>
      </p:sp>
      <p:sp>
        <p:nvSpPr>
          <p:cNvPr id="14" name="Shape 12"/>
          <p:cNvSpPr/>
          <p:nvPr/>
        </p:nvSpPr>
        <p:spPr>
          <a:xfrm>
            <a:off x="4287045" y="1345705"/>
            <a:ext cx="10521" cy="4994076"/>
          </a:xfrm>
          <a:prstGeom prst="rect">
            <a:avLst/>
          </a:prstGeom>
          <a:solidFill>
            <a:srgbClr val="000000">
              <a:alpha val="8000"/>
            </a:srgbClr>
          </a:solidFill>
          <a:ln/>
        </p:spPr>
      </p:sp>
      <p:sp>
        <p:nvSpPr>
          <p:cNvPr id="15" name="Shape 13"/>
          <p:cNvSpPr/>
          <p:nvPr/>
        </p:nvSpPr>
        <p:spPr>
          <a:xfrm>
            <a:off x="7905057" y="1345705"/>
            <a:ext cx="10521" cy="4994076"/>
          </a:xfrm>
          <a:prstGeom prst="rect">
            <a:avLst/>
          </a:prstGeom>
          <a:solidFill>
            <a:srgbClr val="000000">
              <a:alpha val="8000"/>
            </a:srgbClr>
          </a:solidFill>
          <a:ln/>
        </p:spPr>
      </p:sp>
      <p:sp>
        <p:nvSpPr>
          <p:cNvPr id="16" name="Shape 14"/>
          <p:cNvSpPr/>
          <p:nvPr/>
        </p:nvSpPr>
        <p:spPr>
          <a:xfrm>
            <a:off x="669033" y="1352054"/>
            <a:ext cx="3618012" cy="450255"/>
          </a:xfrm>
          <a:prstGeom prst="rect">
            <a:avLst/>
          </a:prstGeom>
          <a:solidFill>
            <a:srgbClr val="A2B9F9"/>
          </a:solidFill>
          <a:ln/>
        </p:spPr>
      </p:sp>
      <p:sp>
        <p:nvSpPr>
          <p:cNvPr id="17" name="Text 15"/>
          <p:cNvSpPr/>
          <p:nvPr/>
        </p:nvSpPr>
        <p:spPr>
          <a:xfrm>
            <a:off x="837307" y="1448296"/>
            <a:ext cx="3887887"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Feature</a:t>
            </a:r>
            <a:endParaRPr lang="en-US" sz="1267" dirty="0"/>
          </a:p>
        </p:txBody>
      </p:sp>
      <p:sp>
        <p:nvSpPr>
          <p:cNvPr id="18" name="Shape 16"/>
          <p:cNvSpPr/>
          <p:nvPr/>
        </p:nvSpPr>
        <p:spPr>
          <a:xfrm>
            <a:off x="4287045" y="1352054"/>
            <a:ext cx="3618012" cy="450255"/>
          </a:xfrm>
          <a:prstGeom prst="rect">
            <a:avLst/>
          </a:prstGeom>
          <a:solidFill>
            <a:srgbClr val="A2B9F9"/>
          </a:solidFill>
          <a:ln/>
        </p:spPr>
      </p:sp>
      <p:sp>
        <p:nvSpPr>
          <p:cNvPr id="19" name="Text 17"/>
          <p:cNvSpPr/>
          <p:nvPr/>
        </p:nvSpPr>
        <p:spPr>
          <a:xfrm>
            <a:off x="4458493" y="1448296"/>
            <a:ext cx="3884712"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Existing System</a:t>
            </a:r>
            <a:endParaRPr lang="en-US" sz="1267" dirty="0"/>
          </a:p>
        </p:txBody>
      </p:sp>
      <p:sp>
        <p:nvSpPr>
          <p:cNvPr id="20" name="Shape 18"/>
          <p:cNvSpPr/>
          <p:nvPr/>
        </p:nvSpPr>
        <p:spPr>
          <a:xfrm>
            <a:off x="7905057" y="1352054"/>
            <a:ext cx="3618012" cy="450255"/>
          </a:xfrm>
          <a:prstGeom prst="rect">
            <a:avLst/>
          </a:prstGeom>
          <a:solidFill>
            <a:srgbClr val="A2B9F9"/>
          </a:solidFill>
          <a:ln/>
        </p:spPr>
      </p:sp>
      <p:sp>
        <p:nvSpPr>
          <p:cNvPr id="21" name="Text 19"/>
          <p:cNvSpPr/>
          <p:nvPr/>
        </p:nvSpPr>
        <p:spPr>
          <a:xfrm>
            <a:off x="8076506" y="1448296"/>
            <a:ext cx="3887887"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Proposed System</a:t>
            </a:r>
            <a:endParaRPr lang="en-US" sz="1267" dirty="0"/>
          </a:p>
        </p:txBody>
      </p:sp>
      <p:sp>
        <p:nvSpPr>
          <p:cNvPr id="22" name="Text 20"/>
          <p:cNvSpPr/>
          <p:nvPr/>
        </p:nvSpPr>
        <p:spPr>
          <a:xfrm>
            <a:off x="837307" y="1997967"/>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Booking Process</a:t>
            </a:r>
            <a:endParaRPr lang="en-US" sz="1267" dirty="0"/>
          </a:p>
        </p:txBody>
      </p:sp>
      <p:sp>
        <p:nvSpPr>
          <p:cNvPr id="23" name="Text 21"/>
          <p:cNvSpPr/>
          <p:nvPr/>
        </p:nvSpPr>
        <p:spPr>
          <a:xfrm>
            <a:off x="4458493" y="1901725"/>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Manual (phone/office visits)</a:t>
            </a:r>
            <a:endParaRPr lang="en-US" sz="1267" dirty="0"/>
          </a:p>
        </p:txBody>
      </p:sp>
      <p:sp>
        <p:nvSpPr>
          <p:cNvPr id="24" name="Text 22"/>
          <p:cNvSpPr/>
          <p:nvPr/>
        </p:nvSpPr>
        <p:spPr>
          <a:xfrm>
            <a:off x="8076506" y="190172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Online (web-based)</a:t>
            </a:r>
            <a:endParaRPr lang="en-US" sz="1267" dirty="0"/>
          </a:p>
        </p:txBody>
      </p:sp>
      <p:sp>
        <p:nvSpPr>
          <p:cNvPr id="25" name="Text 23"/>
          <p:cNvSpPr/>
          <p:nvPr/>
        </p:nvSpPr>
        <p:spPr>
          <a:xfrm>
            <a:off x="837307" y="2451398"/>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Record Keeping</a:t>
            </a:r>
            <a:endParaRPr lang="en-US" sz="1267" dirty="0"/>
          </a:p>
        </p:txBody>
      </p:sp>
      <p:sp>
        <p:nvSpPr>
          <p:cNvPr id="26" name="Text 24"/>
          <p:cNvSpPr/>
          <p:nvPr/>
        </p:nvSpPr>
        <p:spPr>
          <a:xfrm>
            <a:off x="4458493" y="2355156"/>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Paper files, spreadsheets</a:t>
            </a:r>
            <a:endParaRPr lang="en-US" sz="1267" dirty="0"/>
          </a:p>
        </p:txBody>
      </p:sp>
      <p:sp>
        <p:nvSpPr>
          <p:cNvPr id="27" name="Text 25"/>
          <p:cNvSpPr/>
          <p:nvPr/>
        </p:nvSpPr>
        <p:spPr>
          <a:xfrm>
            <a:off x="8076506" y="2355156"/>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Centralized database (MySQL)</a:t>
            </a:r>
            <a:endParaRPr lang="en-US" sz="1267" dirty="0"/>
          </a:p>
        </p:txBody>
      </p:sp>
      <p:sp>
        <p:nvSpPr>
          <p:cNvPr id="28" name="Text 26"/>
          <p:cNvSpPr/>
          <p:nvPr/>
        </p:nvSpPr>
        <p:spPr>
          <a:xfrm>
            <a:off x="837307" y="2904827"/>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Vehicle Availability</a:t>
            </a:r>
            <a:endParaRPr lang="en-US" sz="1267" dirty="0"/>
          </a:p>
        </p:txBody>
      </p:sp>
      <p:sp>
        <p:nvSpPr>
          <p:cNvPr id="29" name="Text 27"/>
          <p:cNvSpPr/>
          <p:nvPr/>
        </p:nvSpPr>
        <p:spPr>
          <a:xfrm>
            <a:off x="4458493" y="2808585"/>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Difficult to track in real-time</a:t>
            </a:r>
            <a:endParaRPr lang="en-US" sz="1267" dirty="0"/>
          </a:p>
        </p:txBody>
      </p:sp>
      <p:sp>
        <p:nvSpPr>
          <p:cNvPr id="30" name="Text 28"/>
          <p:cNvSpPr/>
          <p:nvPr/>
        </p:nvSpPr>
        <p:spPr>
          <a:xfrm>
            <a:off x="8076506" y="280858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Real-time updates</a:t>
            </a:r>
            <a:endParaRPr lang="en-US" sz="1267" dirty="0"/>
          </a:p>
        </p:txBody>
      </p:sp>
      <p:sp>
        <p:nvSpPr>
          <p:cNvPr id="31" name="Text 29"/>
          <p:cNvSpPr/>
          <p:nvPr/>
        </p:nvSpPr>
        <p:spPr>
          <a:xfrm>
            <a:off x="837307" y="3358257"/>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Payment</a:t>
            </a:r>
            <a:endParaRPr lang="en-US" sz="1267" dirty="0"/>
          </a:p>
        </p:txBody>
      </p:sp>
      <p:sp>
        <p:nvSpPr>
          <p:cNvPr id="32" name="Text 30"/>
          <p:cNvSpPr/>
          <p:nvPr/>
        </p:nvSpPr>
        <p:spPr>
          <a:xfrm>
            <a:off x="4458493" y="3262015"/>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Manual cash/card processing</a:t>
            </a:r>
            <a:endParaRPr lang="en-US" sz="1267" dirty="0"/>
          </a:p>
        </p:txBody>
      </p:sp>
      <p:sp>
        <p:nvSpPr>
          <p:cNvPr id="33" name="Text 31"/>
          <p:cNvSpPr/>
          <p:nvPr/>
        </p:nvSpPr>
        <p:spPr>
          <a:xfrm>
            <a:off x="8076506" y="326201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Secure online payment gateway</a:t>
            </a:r>
            <a:endParaRPr lang="en-US" sz="1267" dirty="0"/>
          </a:p>
        </p:txBody>
      </p:sp>
      <p:sp>
        <p:nvSpPr>
          <p:cNvPr id="34" name="Text 32"/>
          <p:cNvSpPr/>
          <p:nvPr/>
        </p:nvSpPr>
        <p:spPr>
          <a:xfrm>
            <a:off x="837307" y="3811686"/>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Maintenance Tracking</a:t>
            </a:r>
            <a:endParaRPr lang="en-US" sz="1267" dirty="0"/>
          </a:p>
        </p:txBody>
      </p:sp>
      <p:sp>
        <p:nvSpPr>
          <p:cNvPr id="35" name="Text 33"/>
          <p:cNvSpPr/>
          <p:nvPr/>
        </p:nvSpPr>
        <p:spPr>
          <a:xfrm>
            <a:off x="4458493" y="3715444"/>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Poorly managed/manual</a:t>
            </a:r>
            <a:endParaRPr lang="en-US" sz="1267" dirty="0"/>
          </a:p>
        </p:txBody>
      </p:sp>
      <p:sp>
        <p:nvSpPr>
          <p:cNvPr id="36" name="Text 34"/>
          <p:cNvSpPr/>
          <p:nvPr/>
        </p:nvSpPr>
        <p:spPr>
          <a:xfrm>
            <a:off x="8076506" y="3715444"/>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Automated scheduling and records</a:t>
            </a:r>
            <a:endParaRPr lang="en-US" sz="1267" dirty="0"/>
          </a:p>
        </p:txBody>
      </p:sp>
      <p:sp>
        <p:nvSpPr>
          <p:cNvPr id="37" name="Text 35"/>
          <p:cNvSpPr/>
          <p:nvPr/>
        </p:nvSpPr>
        <p:spPr>
          <a:xfrm>
            <a:off x="837307" y="4265117"/>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Reporting</a:t>
            </a:r>
            <a:endParaRPr lang="en-US" sz="1267" dirty="0"/>
          </a:p>
        </p:txBody>
      </p:sp>
      <p:sp>
        <p:nvSpPr>
          <p:cNvPr id="38" name="Text 36"/>
          <p:cNvSpPr/>
          <p:nvPr/>
        </p:nvSpPr>
        <p:spPr>
          <a:xfrm>
            <a:off x="4458493" y="4168875"/>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Manual, time-consuming</a:t>
            </a:r>
            <a:endParaRPr lang="en-US" sz="1267" dirty="0"/>
          </a:p>
        </p:txBody>
      </p:sp>
      <p:sp>
        <p:nvSpPr>
          <p:cNvPr id="39" name="Text 37"/>
          <p:cNvSpPr/>
          <p:nvPr/>
        </p:nvSpPr>
        <p:spPr>
          <a:xfrm>
            <a:off x="8076506" y="416887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Automated, comprehensive reports</a:t>
            </a:r>
            <a:endParaRPr lang="en-US" sz="1267" dirty="0"/>
          </a:p>
        </p:txBody>
      </p:sp>
      <p:sp>
        <p:nvSpPr>
          <p:cNvPr id="40" name="Text 38"/>
          <p:cNvSpPr/>
          <p:nvPr/>
        </p:nvSpPr>
        <p:spPr>
          <a:xfrm>
            <a:off x="837307" y="4718546"/>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Accessibility</a:t>
            </a:r>
            <a:endParaRPr lang="en-US" sz="1267" dirty="0"/>
          </a:p>
        </p:txBody>
      </p:sp>
      <p:sp>
        <p:nvSpPr>
          <p:cNvPr id="41" name="Text 39"/>
          <p:cNvSpPr/>
          <p:nvPr/>
        </p:nvSpPr>
        <p:spPr>
          <a:xfrm>
            <a:off x="4458493" y="4622304"/>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Limited (office hours/location)</a:t>
            </a:r>
            <a:endParaRPr lang="en-US" sz="1267" dirty="0"/>
          </a:p>
        </p:txBody>
      </p:sp>
      <p:sp>
        <p:nvSpPr>
          <p:cNvPr id="42" name="Text 40"/>
          <p:cNvSpPr/>
          <p:nvPr/>
        </p:nvSpPr>
        <p:spPr>
          <a:xfrm>
            <a:off x="8076506" y="4622304"/>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24/7 access from any device</a:t>
            </a:r>
            <a:endParaRPr lang="en-US" sz="1267" dirty="0"/>
          </a:p>
        </p:txBody>
      </p:sp>
      <p:sp>
        <p:nvSpPr>
          <p:cNvPr id="43" name="Text 41"/>
          <p:cNvSpPr/>
          <p:nvPr/>
        </p:nvSpPr>
        <p:spPr>
          <a:xfrm>
            <a:off x="837307" y="517197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Error Rate</a:t>
            </a:r>
            <a:endParaRPr lang="en-US" sz="1267" dirty="0"/>
          </a:p>
        </p:txBody>
      </p:sp>
      <p:sp>
        <p:nvSpPr>
          <p:cNvPr id="44" name="Text 42"/>
          <p:cNvSpPr/>
          <p:nvPr/>
        </p:nvSpPr>
        <p:spPr>
          <a:xfrm>
            <a:off x="4458493" y="5075733"/>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High due to human intervention</a:t>
            </a:r>
            <a:endParaRPr lang="en-US" sz="1267" dirty="0"/>
          </a:p>
        </p:txBody>
      </p:sp>
      <p:sp>
        <p:nvSpPr>
          <p:cNvPr id="45" name="Text 43"/>
          <p:cNvSpPr/>
          <p:nvPr/>
        </p:nvSpPr>
        <p:spPr>
          <a:xfrm>
            <a:off x="8076506" y="5075733"/>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Minimized through automation</a:t>
            </a:r>
            <a:endParaRPr lang="en-US" sz="1267" dirty="0"/>
          </a:p>
        </p:txBody>
      </p:sp>
      <p:sp>
        <p:nvSpPr>
          <p:cNvPr id="46" name="Text 44"/>
          <p:cNvSpPr/>
          <p:nvPr/>
        </p:nvSpPr>
        <p:spPr>
          <a:xfrm>
            <a:off x="837307" y="5625405"/>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Security</a:t>
            </a:r>
            <a:endParaRPr lang="en-US" sz="1267" dirty="0"/>
          </a:p>
        </p:txBody>
      </p:sp>
      <p:sp>
        <p:nvSpPr>
          <p:cNvPr id="47" name="Text 45"/>
          <p:cNvSpPr/>
          <p:nvPr/>
        </p:nvSpPr>
        <p:spPr>
          <a:xfrm>
            <a:off x="4458493" y="5529163"/>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Vulnerable to data loss/theft</a:t>
            </a:r>
            <a:endParaRPr lang="en-US" sz="1267" dirty="0"/>
          </a:p>
        </p:txBody>
      </p:sp>
      <p:sp>
        <p:nvSpPr>
          <p:cNvPr id="48" name="Text 46"/>
          <p:cNvSpPr/>
          <p:nvPr/>
        </p:nvSpPr>
        <p:spPr>
          <a:xfrm>
            <a:off x="8076506" y="5529163"/>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Laravel's built-in security features</a:t>
            </a:r>
            <a:endParaRPr lang="en-US" sz="1267" dirty="0"/>
          </a:p>
        </p:txBody>
      </p:sp>
      <p:sp>
        <p:nvSpPr>
          <p:cNvPr id="49" name="Text 47"/>
          <p:cNvSpPr/>
          <p:nvPr/>
        </p:nvSpPr>
        <p:spPr>
          <a:xfrm>
            <a:off x="837307" y="5982593"/>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Customer Experience</a:t>
            </a:r>
            <a:endParaRPr lang="en-US" sz="1267" dirty="0"/>
          </a:p>
        </p:txBody>
      </p:sp>
      <p:sp>
        <p:nvSpPr>
          <p:cNvPr id="50" name="Text 48"/>
          <p:cNvSpPr/>
          <p:nvPr/>
        </p:nvSpPr>
        <p:spPr>
          <a:xfrm>
            <a:off x="4458493" y="5982593"/>
            <a:ext cx="3884712"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Slow, inconvenient</a:t>
            </a:r>
            <a:endParaRPr lang="en-US" sz="1267" dirty="0"/>
          </a:p>
        </p:txBody>
      </p:sp>
      <p:sp>
        <p:nvSpPr>
          <p:cNvPr id="51" name="Text 49"/>
          <p:cNvSpPr/>
          <p:nvPr/>
        </p:nvSpPr>
        <p:spPr>
          <a:xfrm>
            <a:off x="8076506" y="5982593"/>
            <a:ext cx="3887887"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Fast, user-friendly, efficient</a:t>
            </a:r>
            <a:endParaRPr lang="en-US" sz="1267" dirty="0"/>
          </a:p>
        </p:txBody>
      </p:sp>
      <p:pic>
        <p:nvPicPr>
          <p:cNvPr id="53" name="Picture 4" descr="Kadi Sarva Vishwavidyalaya | Kar bhala Hoga Bhala">
            <a:extLst>
              <a:ext uri="{FF2B5EF4-FFF2-40B4-BE49-F238E27FC236}">
                <a16:creationId xmlns:a16="http://schemas.microsoft.com/office/drawing/2014/main" id="{9ED288BF-1B4C-35D7-C9D1-63227B33E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508" y="109652"/>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C:\Users\staff\Downloads\SVICS LOGO.png">
            <a:extLst>
              <a:ext uri="{FF2B5EF4-FFF2-40B4-BE49-F238E27FC236}">
                <a16:creationId xmlns:a16="http://schemas.microsoft.com/office/drawing/2014/main" id="{65BF3E5E-C195-2613-4B8D-EBB80193AD8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45065" y="74819"/>
            <a:ext cx="817778" cy="814573"/>
          </a:xfrm>
          <a:prstGeom prst="rect">
            <a:avLst/>
          </a:prstGeom>
          <a:noFill/>
          <a:extLst>
            <a:ext uri="{909E8E84-426E-40DD-AFC4-6F175D3DCCD1}">
              <a14:hiddenFill xmlns:a14="http://schemas.microsoft.com/office/drawing/2010/main">
                <a:solidFill>
                  <a:srgbClr val="FFFFFF"/>
                </a:solidFill>
              </a14:hiddenFill>
            </a:ext>
          </a:extLst>
        </p:spPr>
      </p:pic>
      <p:sp>
        <p:nvSpPr>
          <p:cNvPr id="54" name="Text 0">
            <a:extLst>
              <a:ext uri="{FF2B5EF4-FFF2-40B4-BE49-F238E27FC236}">
                <a16:creationId xmlns:a16="http://schemas.microsoft.com/office/drawing/2014/main" id="{6707917F-3039-15C0-1A34-AA9A146A745C}"/>
              </a:ext>
            </a:extLst>
          </p:cNvPr>
          <p:cNvSpPr/>
          <p:nvPr/>
        </p:nvSpPr>
        <p:spPr>
          <a:xfrm>
            <a:off x="3000446" y="130143"/>
            <a:ext cx="6191107" cy="526057"/>
          </a:xfrm>
          <a:prstGeom prst="rect">
            <a:avLst/>
          </a:prstGeom>
          <a:noFill/>
          <a:ln/>
        </p:spPr>
        <p:txBody>
          <a:bodyPr wrap="none" lIns="0" tIns="0" rIns="0" bIns="0" rtlCol="0" anchor="t"/>
          <a:lstStyle/>
          <a:p>
            <a:pPr algn="ctr">
              <a:lnSpc>
                <a:spcPct val="104000"/>
              </a:lnSpc>
            </a:pPr>
            <a:r>
              <a:rPr lang="en-US" sz="2800" dirty="0"/>
              <a:t>TASK-2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171716" y="291307"/>
            <a:ext cx="5117515" cy="424457"/>
          </a:xfrm>
          <a:prstGeom prst="rect">
            <a:avLst/>
          </a:prstGeom>
          <a:noFill/>
          <a:ln/>
        </p:spPr>
        <p:txBody>
          <a:bodyPr wrap="none" lIns="0" tIns="0" rIns="0" bIns="0" rtlCol="0" anchor="t"/>
          <a:lstStyle/>
          <a:p>
            <a:pPr algn="ctr">
              <a:lnSpc>
                <a:spcPct val="104000"/>
              </a:lnSpc>
            </a:pPr>
            <a:r>
              <a:rPr lang="en-US" sz="2667" dirty="0">
                <a:solidFill>
                  <a:srgbClr val="3F6FF3"/>
                </a:solidFill>
                <a:latin typeface="Outfit Medium" pitchFamily="34" charset="0"/>
                <a:ea typeface="Outfit Medium" pitchFamily="34" charset="-122"/>
                <a:cs typeface="Outfit Medium" pitchFamily="34" charset="-120"/>
              </a:rPr>
              <a:t>Proposed System &amp; Advantages</a:t>
            </a:r>
            <a:endParaRPr lang="en-US" sz="2667" dirty="0"/>
          </a:p>
        </p:txBody>
      </p:sp>
      <p:sp>
        <p:nvSpPr>
          <p:cNvPr id="3" name="Text 1"/>
          <p:cNvSpPr/>
          <p:nvPr/>
        </p:nvSpPr>
        <p:spPr>
          <a:xfrm>
            <a:off x="376048" y="1070272"/>
            <a:ext cx="10869017" cy="823021"/>
          </a:xfrm>
          <a:prstGeom prst="rect">
            <a:avLst/>
          </a:prstGeom>
          <a:noFill/>
          <a:ln/>
        </p:spPr>
        <p:txBody>
          <a:bodyPr wrap="square" lIns="0" tIns="0" rIns="0" bIns="0" rtlCol="0" anchor="t">
            <a:normAutofit/>
          </a:bodyPr>
          <a:lstStyle/>
          <a:p>
            <a:pPr>
              <a:lnSpc>
                <a:spcPct val="115000"/>
              </a:lnSpc>
            </a:pPr>
            <a:r>
              <a:rPr lang="en-US" sz="1600" dirty="0">
                <a:latin typeface="IBM Plex Sans" pitchFamily="34" charset="0"/>
                <a:ea typeface="IBM Plex Sans" pitchFamily="34" charset="-122"/>
                <a:cs typeface="IBM Plex Sans" pitchFamily="34" charset="-120"/>
              </a:rPr>
              <a:t>The proposed Online Car Rental System is a secure web-based application. It automates the complete vehicle rental process, allowing customers to search, compare, and book vehicles online while enabling administrators to manage vehicles, bookings, payments, maintenance, and reports through a centralized dashboard</a:t>
            </a:r>
            <a:r>
              <a:rPr lang="en-US" sz="1100" dirty="0">
                <a:solidFill>
                  <a:srgbClr val="666666"/>
                </a:solidFill>
                <a:latin typeface="IBM Plex Sans" pitchFamily="34" charset="0"/>
                <a:ea typeface="IBM Plex Sans" pitchFamily="34" charset="-122"/>
                <a:cs typeface="IBM Plex Sans" pitchFamily="34" charset="-120"/>
              </a:rPr>
              <a:t>.</a:t>
            </a:r>
            <a:endParaRPr lang="en-US" sz="1100" dirty="0"/>
          </a:p>
        </p:txBody>
      </p:sp>
      <p:sp>
        <p:nvSpPr>
          <p:cNvPr id="4" name="Shape 2"/>
          <p:cNvSpPr/>
          <p:nvPr/>
        </p:nvSpPr>
        <p:spPr>
          <a:xfrm>
            <a:off x="661492"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5" name="Shape 3"/>
          <p:cNvSpPr/>
          <p:nvPr/>
        </p:nvSpPr>
        <p:spPr>
          <a:xfrm>
            <a:off x="1505546" y="2147590"/>
            <a:ext cx="407492" cy="407492"/>
          </a:xfrm>
          <a:prstGeom prst="ellipse">
            <a:avLst/>
          </a:prstGeom>
          <a:solidFill>
            <a:srgbClr val="A2B9F9"/>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7563" y="2259609"/>
            <a:ext cx="183356" cy="183356"/>
          </a:xfrm>
          <a:prstGeom prst="rect">
            <a:avLst/>
          </a:prstGeom>
        </p:spPr>
      </p:pic>
      <p:sp>
        <p:nvSpPr>
          <p:cNvPr id="7" name="Text 4"/>
          <p:cNvSpPr/>
          <p:nvPr/>
        </p:nvSpPr>
        <p:spPr>
          <a:xfrm>
            <a:off x="803673"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Real-Time Vehicle Availability</a:t>
            </a:r>
            <a:endParaRPr lang="en-US" sz="1333" dirty="0"/>
          </a:p>
        </p:txBody>
      </p:sp>
      <p:sp>
        <p:nvSpPr>
          <p:cNvPr id="8" name="Text 5"/>
          <p:cNvSpPr/>
          <p:nvPr/>
        </p:nvSpPr>
        <p:spPr>
          <a:xfrm>
            <a:off x="803673" y="313590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Customers can instantly view available cars, preventing double bookings.</a:t>
            </a:r>
            <a:endParaRPr lang="en-US" sz="1067" dirty="0"/>
          </a:p>
        </p:txBody>
      </p:sp>
      <p:sp>
        <p:nvSpPr>
          <p:cNvPr id="9" name="Shape 6"/>
          <p:cNvSpPr/>
          <p:nvPr/>
        </p:nvSpPr>
        <p:spPr>
          <a:xfrm>
            <a:off x="2854821"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10" name="Shape 7"/>
          <p:cNvSpPr/>
          <p:nvPr/>
        </p:nvSpPr>
        <p:spPr>
          <a:xfrm>
            <a:off x="3698875" y="2147590"/>
            <a:ext cx="407492" cy="407492"/>
          </a:xfrm>
          <a:prstGeom prst="ellipse">
            <a:avLst/>
          </a:prstGeom>
          <a:solidFill>
            <a:srgbClr val="A2B9F9"/>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10894" y="2259609"/>
            <a:ext cx="183356" cy="183356"/>
          </a:xfrm>
          <a:prstGeom prst="rect">
            <a:avLst/>
          </a:prstGeom>
        </p:spPr>
      </p:pic>
      <p:sp>
        <p:nvSpPr>
          <p:cNvPr id="12" name="Text 8"/>
          <p:cNvSpPr/>
          <p:nvPr/>
        </p:nvSpPr>
        <p:spPr>
          <a:xfrm>
            <a:off x="2997002"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Smart Search and Filters</a:t>
            </a:r>
            <a:endParaRPr lang="en-US" sz="1333" dirty="0"/>
          </a:p>
        </p:txBody>
      </p:sp>
      <p:sp>
        <p:nvSpPr>
          <p:cNvPr id="13" name="Text 9"/>
          <p:cNvSpPr/>
          <p:nvPr/>
        </p:nvSpPr>
        <p:spPr>
          <a:xfrm>
            <a:off x="2997002" y="313590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Users can search cars by brand, location, price, fuel type, and transmission.</a:t>
            </a:r>
            <a:endParaRPr lang="en-US" sz="1067" dirty="0"/>
          </a:p>
        </p:txBody>
      </p:sp>
      <p:sp>
        <p:nvSpPr>
          <p:cNvPr id="14" name="Shape 10"/>
          <p:cNvSpPr/>
          <p:nvPr/>
        </p:nvSpPr>
        <p:spPr>
          <a:xfrm>
            <a:off x="5048151"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15" name="Shape 11"/>
          <p:cNvSpPr/>
          <p:nvPr/>
        </p:nvSpPr>
        <p:spPr>
          <a:xfrm>
            <a:off x="5892206" y="2147590"/>
            <a:ext cx="407492" cy="407492"/>
          </a:xfrm>
          <a:prstGeom prst="ellipse">
            <a:avLst/>
          </a:prstGeom>
          <a:solidFill>
            <a:srgbClr val="A2B9F9"/>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4223" y="2259609"/>
            <a:ext cx="183356" cy="183356"/>
          </a:xfrm>
          <a:prstGeom prst="rect">
            <a:avLst/>
          </a:prstGeom>
        </p:spPr>
      </p:pic>
      <p:sp>
        <p:nvSpPr>
          <p:cNvPr id="17" name="Text 12"/>
          <p:cNvSpPr/>
          <p:nvPr/>
        </p:nvSpPr>
        <p:spPr>
          <a:xfrm>
            <a:off x="5190332"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Online Booking and Secure Payments</a:t>
            </a:r>
            <a:endParaRPr lang="en-US" sz="1333" dirty="0"/>
          </a:p>
        </p:txBody>
      </p:sp>
      <p:sp>
        <p:nvSpPr>
          <p:cNvPr id="18" name="Text 13"/>
          <p:cNvSpPr/>
          <p:nvPr/>
        </p:nvSpPr>
        <p:spPr>
          <a:xfrm>
            <a:off x="5190332" y="313590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Customers can book vehicles and make payments online with instant confirmation.</a:t>
            </a:r>
            <a:endParaRPr lang="en-US" sz="1067" dirty="0"/>
          </a:p>
        </p:txBody>
      </p:sp>
      <p:sp>
        <p:nvSpPr>
          <p:cNvPr id="19" name="Shape 14"/>
          <p:cNvSpPr/>
          <p:nvPr/>
        </p:nvSpPr>
        <p:spPr>
          <a:xfrm>
            <a:off x="7241480"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20" name="Shape 15"/>
          <p:cNvSpPr/>
          <p:nvPr/>
        </p:nvSpPr>
        <p:spPr>
          <a:xfrm>
            <a:off x="8085535" y="2147590"/>
            <a:ext cx="407492" cy="407492"/>
          </a:xfrm>
          <a:prstGeom prst="ellipse">
            <a:avLst/>
          </a:prstGeom>
          <a:solidFill>
            <a:srgbClr val="A2B9F9"/>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97553" y="2259609"/>
            <a:ext cx="183356" cy="183356"/>
          </a:xfrm>
          <a:prstGeom prst="rect">
            <a:avLst/>
          </a:prstGeom>
        </p:spPr>
      </p:pic>
      <p:sp>
        <p:nvSpPr>
          <p:cNvPr id="22" name="Text 16"/>
          <p:cNvSpPr/>
          <p:nvPr/>
        </p:nvSpPr>
        <p:spPr>
          <a:xfrm>
            <a:off x="7383662"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Role-Based Access Control</a:t>
            </a:r>
            <a:endParaRPr lang="en-US" sz="1333" dirty="0"/>
          </a:p>
        </p:txBody>
      </p:sp>
      <p:sp>
        <p:nvSpPr>
          <p:cNvPr id="23" name="Text 17"/>
          <p:cNvSpPr/>
          <p:nvPr/>
        </p:nvSpPr>
        <p:spPr>
          <a:xfrm>
            <a:off x="7383662" y="3135909"/>
            <a:ext cx="1811337" cy="74691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Separate dashboards for customer, and administrators ensure secure and efficient management.</a:t>
            </a:r>
            <a:endParaRPr lang="en-US" sz="1067" dirty="0"/>
          </a:p>
        </p:txBody>
      </p:sp>
      <p:sp>
        <p:nvSpPr>
          <p:cNvPr id="24" name="Shape 18"/>
          <p:cNvSpPr/>
          <p:nvPr/>
        </p:nvSpPr>
        <p:spPr>
          <a:xfrm>
            <a:off x="9434811" y="2005410"/>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25" name="Shape 19"/>
          <p:cNvSpPr/>
          <p:nvPr/>
        </p:nvSpPr>
        <p:spPr>
          <a:xfrm>
            <a:off x="10278865" y="2147590"/>
            <a:ext cx="407492" cy="407492"/>
          </a:xfrm>
          <a:prstGeom prst="ellipse">
            <a:avLst/>
          </a:prstGeom>
          <a:solidFill>
            <a:srgbClr val="A2B9F9"/>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90883" y="2259609"/>
            <a:ext cx="183356" cy="183356"/>
          </a:xfrm>
          <a:prstGeom prst="rect">
            <a:avLst/>
          </a:prstGeom>
        </p:spPr>
      </p:pic>
      <p:sp>
        <p:nvSpPr>
          <p:cNvPr id="27" name="Text 20"/>
          <p:cNvSpPr/>
          <p:nvPr/>
        </p:nvSpPr>
        <p:spPr>
          <a:xfrm>
            <a:off x="9576992" y="2652712"/>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Automated Notifications</a:t>
            </a:r>
            <a:endParaRPr lang="en-US" sz="1333" dirty="0"/>
          </a:p>
        </p:txBody>
      </p:sp>
      <p:sp>
        <p:nvSpPr>
          <p:cNvPr id="28" name="Text 21"/>
          <p:cNvSpPr/>
          <p:nvPr/>
        </p:nvSpPr>
        <p:spPr>
          <a:xfrm>
            <a:off x="9576992" y="3135909"/>
            <a:ext cx="1811337" cy="74691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Email/SMS notifications for booking confirmations, payment status, pickup, and return reminders.</a:t>
            </a:r>
            <a:endParaRPr lang="en-US" sz="1067" dirty="0"/>
          </a:p>
        </p:txBody>
      </p:sp>
      <p:sp>
        <p:nvSpPr>
          <p:cNvPr id="29" name="Shape 22"/>
          <p:cNvSpPr/>
          <p:nvPr/>
        </p:nvSpPr>
        <p:spPr>
          <a:xfrm>
            <a:off x="661492"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30" name="Shape 23"/>
          <p:cNvSpPr/>
          <p:nvPr/>
        </p:nvSpPr>
        <p:spPr>
          <a:xfrm>
            <a:off x="1505546" y="4264819"/>
            <a:ext cx="407492" cy="407492"/>
          </a:xfrm>
          <a:prstGeom prst="ellipse">
            <a:avLst/>
          </a:prstGeom>
          <a:solidFill>
            <a:srgbClr val="A2B9F9"/>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617563" y="4376838"/>
            <a:ext cx="183356" cy="183356"/>
          </a:xfrm>
          <a:prstGeom prst="rect">
            <a:avLst/>
          </a:prstGeom>
        </p:spPr>
      </p:pic>
      <p:sp>
        <p:nvSpPr>
          <p:cNvPr id="32" name="Text 24"/>
          <p:cNvSpPr/>
          <p:nvPr/>
        </p:nvSpPr>
        <p:spPr>
          <a:xfrm>
            <a:off x="803673" y="4769941"/>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Maintenance Management</a:t>
            </a:r>
            <a:endParaRPr lang="en-US" sz="1333" dirty="0"/>
          </a:p>
        </p:txBody>
      </p:sp>
      <p:sp>
        <p:nvSpPr>
          <p:cNvPr id="33" name="Text 25"/>
          <p:cNvSpPr/>
          <p:nvPr/>
        </p:nvSpPr>
        <p:spPr>
          <a:xfrm>
            <a:off x="803673" y="5253138"/>
            <a:ext cx="1811337" cy="74691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Tracks vehicle service schedules and automatically marks cars unavailable during maintenance.</a:t>
            </a:r>
            <a:endParaRPr lang="en-US" sz="1067" dirty="0"/>
          </a:p>
        </p:txBody>
      </p:sp>
      <p:sp>
        <p:nvSpPr>
          <p:cNvPr id="34" name="Shape 26"/>
          <p:cNvSpPr/>
          <p:nvPr/>
        </p:nvSpPr>
        <p:spPr>
          <a:xfrm>
            <a:off x="2854821"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35" name="Shape 27"/>
          <p:cNvSpPr/>
          <p:nvPr/>
        </p:nvSpPr>
        <p:spPr>
          <a:xfrm>
            <a:off x="3698875" y="4264819"/>
            <a:ext cx="407492" cy="407492"/>
          </a:xfrm>
          <a:prstGeom prst="ellipse">
            <a:avLst/>
          </a:prstGeom>
          <a:solidFill>
            <a:srgbClr val="A2B9F9"/>
          </a:solidFill>
          <a:ln/>
        </p:spPr>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10894" y="4376838"/>
            <a:ext cx="183356" cy="183356"/>
          </a:xfrm>
          <a:prstGeom prst="rect">
            <a:avLst/>
          </a:prstGeom>
        </p:spPr>
      </p:pic>
      <p:sp>
        <p:nvSpPr>
          <p:cNvPr id="37" name="Text 28"/>
          <p:cNvSpPr/>
          <p:nvPr/>
        </p:nvSpPr>
        <p:spPr>
          <a:xfrm>
            <a:off x="2997002" y="4769941"/>
            <a:ext cx="1811337" cy="424656"/>
          </a:xfrm>
          <a:prstGeom prst="rect">
            <a:avLst/>
          </a:prstGeom>
          <a:noFill/>
          <a:ln/>
        </p:spPr>
        <p:txBody>
          <a:bodyPr wrap="square" lIns="0" tIns="0" rIns="0" bIns="0" rtlCol="0" anchor="t">
            <a:normAutofit/>
          </a:bodyPr>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Digital Document Verification</a:t>
            </a:r>
            <a:endParaRPr lang="en-US" sz="1333" dirty="0"/>
          </a:p>
        </p:txBody>
      </p:sp>
      <p:sp>
        <p:nvSpPr>
          <p:cNvPr id="38" name="Text 29"/>
          <p:cNvSpPr/>
          <p:nvPr/>
        </p:nvSpPr>
        <p:spPr>
          <a:xfrm>
            <a:off x="2997002" y="525313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Customers can upload required documents online for faster approval.</a:t>
            </a:r>
            <a:endParaRPr lang="en-US" sz="1067" dirty="0"/>
          </a:p>
        </p:txBody>
      </p:sp>
      <p:sp>
        <p:nvSpPr>
          <p:cNvPr id="39" name="Shape 30"/>
          <p:cNvSpPr/>
          <p:nvPr/>
        </p:nvSpPr>
        <p:spPr>
          <a:xfrm>
            <a:off x="5048151"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40" name="Shape 31"/>
          <p:cNvSpPr/>
          <p:nvPr/>
        </p:nvSpPr>
        <p:spPr>
          <a:xfrm>
            <a:off x="5892206" y="4264819"/>
            <a:ext cx="407492" cy="407492"/>
          </a:xfrm>
          <a:prstGeom prst="ellipse">
            <a:avLst/>
          </a:prstGeom>
          <a:solidFill>
            <a:srgbClr val="A2B9F9"/>
          </a:solidFill>
          <a:ln/>
        </p:spPr>
      </p:sp>
      <p:pic>
        <p:nvPicPr>
          <p:cNvPr id="4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004223" y="4376838"/>
            <a:ext cx="183356" cy="183356"/>
          </a:xfrm>
          <a:prstGeom prst="rect">
            <a:avLst/>
          </a:prstGeom>
        </p:spPr>
      </p:pic>
      <p:sp>
        <p:nvSpPr>
          <p:cNvPr id="42" name="Text 32"/>
          <p:cNvSpPr/>
          <p:nvPr/>
        </p:nvSpPr>
        <p:spPr>
          <a:xfrm>
            <a:off x="5190332" y="4769941"/>
            <a:ext cx="1811337" cy="212328"/>
          </a:xfrm>
          <a:prstGeom prst="rect">
            <a:avLst/>
          </a:prstGeom>
          <a:noFill/>
          <a:ln/>
        </p:spPr>
        <p:txBody>
          <a:bodyPr wrap="none" lIns="0" tIns="0" rIns="0" bIns="0" rtlCol="0" anchor="t"/>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Analytics and Reports</a:t>
            </a:r>
            <a:endParaRPr lang="en-US" sz="1333" dirty="0"/>
          </a:p>
        </p:txBody>
      </p:sp>
      <p:sp>
        <p:nvSpPr>
          <p:cNvPr id="43" name="Text 33"/>
          <p:cNvSpPr/>
          <p:nvPr/>
        </p:nvSpPr>
        <p:spPr>
          <a:xfrm>
            <a:off x="5190332" y="5040809"/>
            <a:ext cx="1811337" cy="74691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Admins can generate reports on bookings, revenue, vehicle usage, and maintenance to support decision-making.</a:t>
            </a:r>
            <a:endParaRPr lang="en-US" sz="1067" dirty="0"/>
          </a:p>
        </p:txBody>
      </p:sp>
      <p:sp>
        <p:nvSpPr>
          <p:cNvPr id="44" name="Shape 34"/>
          <p:cNvSpPr/>
          <p:nvPr/>
        </p:nvSpPr>
        <p:spPr>
          <a:xfrm>
            <a:off x="7241480"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45" name="Shape 35"/>
          <p:cNvSpPr/>
          <p:nvPr/>
        </p:nvSpPr>
        <p:spPr>
          <a:xfrm>
            <a:off x="8085535" y="4264819"/>
            <a:ext cx="407492" cy="407492"/>
          </a:xfrm>
          <a:prstGeom prst="ellipse">
            <a:avLst/>
          </a:prstGeom>
          <a:solidFill>
            <a:srgbClr val="A2B9F9"/>
          </a:solidFill>
          <a:ln/>
        </p:spPr>
      </p:sp>
      <p:pic>
        <p:nvPicPr>
          <p:cNvPr id="46"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197553" y="4376838"/>
            <a:ext cx="183356" cy="183356"/>
          </a:xfrm>
          <a:prstGeom prst="rect">
            <a:avLst/>
          </a:prstGeom>
        </p:spPr>
      </p:pic>
      <p:sp>
        <p:nvSpPr>
          <p:cNvPr id="47" name="Text 36"/>
          <p:cNvSpPr/>
          <p:nvPr/>
        </p:nvSpPr>
        <p:spPr>
          <a:xfrm>
            <a:off x="7383662" y="4769941"/>
            <a:ext cx="1811337" cy="212328"/>
          </a:xfrm>
          <a:prstGeom prst="rect">
            <a:avLst/>
          </a:prstGeom>
          <a:noFill/>
          <a:ln/>
        </p:spPr>
        <p:txBody>
          <a:bodyPr wrap="none" lIns="0" tIns="0" rIns="0" bIns="0" rtlCol="0" anchor="t"/>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Responsive Design</a:t>
            </a:r>
            <a:endParaRPr lang="en-US" sz="1333" dirty="0"/>
          </a:p>
        </p:txBody>
      </p:sp>
      <p:sp>
        <p:nvSpPr>
          <p:cNvPr id="48" name="Text 37"/>
          <p:cNvSpPr/>
          <p:nvPr/>
        </p:nvSpPr>
        <p:spPr>
          <a:xfrm>
            <a:off x="7383662" y="5040808"/>
            <a:ext cx="1811337" cy="560189"/>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The system works smoothly on desktops, tablets, and smartphones.</a:t>
            </a:r>
            <a:endParaRPr lang="en-US" sz="1067" dirty="0"/>
          </a:p>
        </p:txBody>
      </p:sp>
      <p:sp>
        <p:nvSpPr>
          <p:cNvPr id="49" name="Shape 38"/>
          <p:cNvSpPr/>
          <p:nvPr/>
        </p:nvSpPr>
        <p:spPr>
          <a:xfrm>
            <a:off x="9434811" y="4122639"/>
            <a:ext cx="2095699" cy="2019597"/>
          </a:xfrm>
          <a:prstGeom prst="roundRect">
            <a:avLst>
              <a:gd name="adj" fmla="val 6054"/>
            </a:avLst>
          </a:prstGeom>
          <a:solidFill>
            <a:srgbClr val="CFDBFC"/>
          </a:solidFill>
          <a:ln w="4763">
            <a:solidFill>
              <a:srgbClr val="B5C1E2"/>
            </a:solidFill>
            <a:prstDash val="solid"/>
          </a:ln>
          <a:effectLst>
            <a:outerShdw blurRad="101600" dist="12700" dir="2700000" algn="bl" rotWithShape="0">
              <a:srgbClr val="B5C1E2">
                <a:alpha val="100000"/>
              </a:srgbClr>
            </a:outerShdw>
          </a:effectLst>
        </p:spPr>
      </p:sp>
      <p:sp>
        <p:nvSpPr>
          <p:cNvPr id="50" name="Shape 39"/>
          <p:cNvSpPr/>
          <p:nvPr/>
        </p:nvSpPr>
        <p:spPr>
          <a:xfrm>
            <a:off x="10278865" y="4264819"/>
            <a:ext cx="407492" cy="407492"/>
          </a:xfrm>
          <a:prstGeom prst="ellipse">
            <a:avLst/>
          </a:prstGeom>
          <a:solidFill>
            <a:srgbClr val="A2B9F9"/>
          </a:solidFill>
          <a:ln/>
        </p:spPr>
      </p:sp>
      <p:pic>
        <p:nvPicPr>
          <p:cNvPr id="51"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90883" y="4376838"/>
            <a:ext cx="183356" cy="183356"/>
          </a:xfrm>
          <a:prstGeom prst="rect">
            <a:avLst/>
          </a:prstGeom>
        </p:spPr>
      </p:pic>
      <p:sp>
        <p:nvSpPr>
          <p:cNvPr id="52" name="Text 40"/>
          <p:cNvSpPr/>
          <p:nvPr/>
        </p:nvSpPr>
        <p:spPr>
          <a:xfrm>
            <a:off x="9576992" y="4769941"/>
            <a:ext cx="1811337" cy="212328"/>
          </a:xfrm>
          <a:prstGeom prst="rect">
            <a:avLst/>
          </a:prstGeom>
          <a:noFill/>
          <a:ln/>
        </p:spPr>
        <p:txBody>
          <a:bodyPr wrap="none" lIns="0" tIns="0" rIns="0" bIns="0" rtlCol="0" anchor="t"/>
          <a:lstStyle/>
          <a:p>
            <a:pPr algn="ctr">
              <a:lnSpc>
                <a:spcPct val="104000"/>
              </a:lnSpc>
            </a:pPr>
            <a:r>
              <a:rPr lang="en-US" sz="1333" dirty="0">
                <a:solidFill>
                  <a:srgbClr val="000000"/>
                </a:solidFill>
                <a:latin typeface="Outfit Medium" pitchFamily="34" charset="0"/>
                <a:ea typeface="Outfit Medium" pitchFamily="34" charset="-122"/>
                <a:cs typeface="Outfit Medium" pitchFamily="34" charset="-120"/>
              </a:rPr>
              <a:t>Secure Architecture</a:t>
            </a:r>
            <a:endParaRPr lang="en-US" sz="1333" dirty="0"/>
          </a:p>
        </p:txBody>
      </p:sp>
      <p:sp>
        <p:nvSpPr>
          <p:cNvPr id="53" name="Text 41"/>
          <p:cNvSpPr/>
          <p:nvPr/>
        </p:nvSpPr>
        <p:spPr>
          <a:xfrm>
            <a:off x="9576992" y="5040808"/>
            <a:ext cx="1811337" cy="933648"/>
          </a:xfrm>
          <a:prstGeom prst="rect">
            <a:avLst/>
          </a:prstGeom>
          <a:noFill/>
          <a:ln/>
        </p:spPr>
        <p:txBody>
          <a:bodyPr wrap="square" lIns="0" tIns="0" rIns="0" bIns="0" rtlCol="0" anchor="t">
            <a:normAutofit/>
          </a:bodyPr>
          <a:lstStyle/>
          <a:p>
            <a:pPr algn="ctr">
              <a:lnSpc>
                <a:spcPct val="115000"/>
              </a:lnSpc>
            </a:pPr>
            <a:r>
              <a:rPr lang="en-US" sz="1067" dirty="0">
                <a:solidFill>
                  <a:srgbClr val="000000"/>
                </a:solidFill>
                <a:latin typeface="IBM Plex Sans" pitchFamily="34" charset="0"/>
                <a:ea typeface="IBM Plex Sans" pitchFamily="34" charset="-122"/>
                <a:cs typeface="IBM Plex Sans" pitchFamily="34" charset="-120"/>
              </a:rPr>
              <a:t>Uses Laravel's built-in security features such as password hashing, CSRF protection, input validation, and role-based authorization.</a:t>
            </a:r>
            <a:endParaRPr lang="en-US" sz="1067" dirty="0"/>
          </a:p>
        </p:txBody>
      </p:sp>
      <p:pic>
        <p:nvPicPr>
          <p:cNvPr id="55" name="Picture 4" descr="Kadi Sarva Vishwavidyalaya | Kar bhala Hoga Bhala">
            <a:extLst>
              <a:ext uri="{FF2B5EF4-FFF2-40B4-BE49-F238E27FC236}">
                <a16:creationId xmlns:a16="http://schemas.microsoft.com/office/drawing/2014/main" id="{A1B1D79C-C1A0-1FFB-F82F-C3F1D9E65B2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6508" y="109652"/>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C:\Users\staff\Downloads\SVICS LOGO.png">
            <a:extLst>
              <a:ext uri="{FF2B5EF4-FFF2-40B4-BE49-F238E27FC236}">
                <a16:creationId xmlns:a16="http://schemas.microsoft.com/office/drawing/2014/main" id="{6BEB1456-6A80-964A-85E3-A61611FF5965}"/>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245065" y="74819"/>
            <a:ext cx="817778" cy="8145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36797" y="255190"/>
            <a:ext cx="3471595" cy="526057"/>
          </a:xfrm>
          <a:prstGeom prst="rect">
            <a:avLst/>
          </a:prstGeom>
          <a:noFill/>
          <a:ln/>
        </p:spPr>
        <p:txBody>
          <a:bodyPr wrap="none" lIns="0" tIns="0" rIns="0" bIns="0" rtlCol="0" anchor="t"/>
          <a:lstStyle/>
          <a:p>
            <a:pPr>
              <a:lnSpc>
                <a:spcPct val="104000"/>
              </a:lnSpc>
            </a:pPr>
            <a:r>
              <a:rPr lang="en-US" sz="3200" dirty="0">
                <a:solidFill>
                  <a:srgbClr val="3F6FF3"/>
                </a:solidFill>
                <a:latin typeface="Outfit Medium" pitchFamily="34" charset="0"/>
                <a:ea typeface="Outfit Medium" pitchFamily="34" charset="-122"/>
                <a:cs typeface="Outfit Medium" pitchFamily="34" charset="-120"/>
              </a:rPr>
              <a:t>Technology Used</a:t>
            </a:r>
            <a:endParaRPr lang="en-US" sz="3200" dirty="0"/>
          </a:p>
        </p:txBody>
      </p:sp>
      <p:sp>
        <p:nvSpPr>
          <p:cNvPr id="3" name="Shape 1"/>
          <p:cNvSpPr/>
          <p:nvPr/>
        </p:nvSpPr>
        <p:spPr>
          <a:xfrm>
            <a:off x="661493" y="1345705"/>
            <a:ext cx="10869017" cy="4994076"/>
          </a:xfrm>
          <a:prstGeom prst="roundRect">
            <a:avLst>
              <a:gd name="adj" fmla="val 3034"/>
            </a:avLst>
          </a:prstGeom>
          <a:noFill/>
          <a:ln w="4763">
            <a:solidFill>
              <a:srgbClr val="000000">
                <a:alpha val="8000"/>
              </a:srgbClr>
            </a:solidFill>
            <a:prstDash val="solid"/>
          </a:ln>
        </p:spPr>
      </p:sp>
      <p:sp>
        <p:nvSpPr>
          <p:cNvPr id="4" name="Shape 2"/>
          <p:cNvSpPr/>
          <p:nvPr/>
        </p:nvSpPr>
        <p:spPr>
          <a:xfrm>
            <a:off x="661493" y="1802309"/>
            <a:ext cx="10869017" cy="10521"/>
          </a:xfrm>
          <a:prstGeom prst="rect">
            <a:avLst/>
          </a:prstGeom>
          <a:solidFill>
            <a:srgbClr val="000000">
              <a:alpha val="8000"/>
            </a:srgbClr>
          </a:solidFill>
          <a:ln/>
        </p:spPr>
      </p:sp>
      <p:sp>
        <p:nvSpPr>
          <p:cNvPr id="5" name="Shape 3"/>
          <p:cNvSpPr/>
          <p:nvPr/>
        </p:nvSpPr>
        <p:spPr>
          <a:xfrm>
            <a:off x="661493" y="2255740"/>
            <a:ext cx="10869017" cy="10521"/>
          </a:xfrm>
          <a:prstGeom prst="rect">
            <a:avLst/>
          </a:prstGeom>
          <a:solidFill>
            <a:srgbClr val="000000">
              <a:alpha val="8000"/>
            </a:srgbClr>
          </a:solidFill>
          <a:ln/>
        </p:spPr>
      </p:sp>
      <p:sp>
        <p:nvSpPr>
          <p:cNvPr id="6" name="Shape 4"/>
          <p:cNvSpPr/>
          <p:nvPr/>
        </p:nvSpPr>
        <p:spPr>
          <a:xfrm>
            <a:off x="661493" y="2709169"/>
            <a:ext cx="10869017" cy="10521"/>
          </a:xfrm>
          <a:prstGeom prst="rect">
            <a:avLst/>
          </a:prstGeom>
          <a:solidFill>
            <a:srgbClr val="000000">
              <a:alpha val="8000"/>
            </a:srgbClr>
          </a:solidFill>
          <a:ln/>
        </p:spPr>
      </p:sp>
      <p:sp>
        <p:nvSpPr>
          <p:cNvPr id="7" name="Shape 5"/>
          <p:cNvSpPr/>
          <p:nvPr/>
        </p:nvSpPr>
        <p:spPr>
          <a:xfrm>
            <a:off x="661493" y="3162598"/>
            <a:ext cx="10869017" cy="10521"/>
          </a:xfrm>
          <a:prstGeom prst="rect">
            <a:avLst/>
          </a:prstGeom>
          <a:solidFill>
            <a:srgbClr val="000000">
              <a:alpha val="8000"/>
            </a:srgbClr>
          </a:solidFill>
          <a:ln/>
        </p:spPr>
      </p:sp>
      <p:sp>
        <p:nvSpPr>
          <p:cNvPr id="8" name="Shape 6"/>
          <p:cNvSpPr/>
          <p:nvPr/>
        </p:nvSpPr>
        <p:spPr>
          <a:xfrm>
            <a:off x="661493" y="3616029"/>
            <a:ext cx="10869017" cy="10521"/>
          </a:xfrm>
          <a:prstGeom prst="rect">
            <a:avLst/>
          </a:prstGeom>
          <a:solidFill>
            <a:srgbClr val="000000">
              <a:alpha val="8000"/>
            </a:srgbClr>
          </a:solidFill>
          <a:ln/>
        </p:spPr>
      </p:sp>
      <p:sp>
        <p:nvSpPr>
          <p:cNvPr id="9" name="Shape 7"/>
          <p:cNvSpPr/>
          <p:nvPr/>
        </p:nvSpPr>
        <p:spPr>
          <a:xfrm>
            <a:off x="661493" y="4069458"/>
            <a:ext cx="10869017" cy="10521"/>
          </a:xfrm>
          <a:prstGeom prst="rect">
            <a:avLst/>
          </a:prstGeom>
          <a:solidFill>
            <a:srgbClr val="000000">
              <a:alpha val="8000"/>
            </a:srgbClr>
          </a:solidFill>
          <a:ln/>
        </p:spPr>
      </p:sp>
      <p:sp>
        <p:nvSpPr>
          <p:cNvPr id="10" name="Shape 8"/>
          <p:cNvSpPr/>
          <p:nvPr/>
        </p:nvSpPr>
        <p:spPr>
          <a:xfrm>
            <a:off x="661493" y="4522888"/>
            <a:ext cx="10869017" cy="10521"/>
          </a:xfrm>
          <a:prstGeom prst="rect">
            <a:avLst/>
          </a:prstGeom>
          <a:solidFill>
            <a:srgbClr val="000000">
              <a:alpha val="8000"/>
            </a:srgbClr>
          </a:solidFill>
          <a:ln/>
        </p:spPr>
      </p:sp>
      <p:sp>
        <p:nvSpPr>
          <p:cNvPr id="11" name="Shape 9"/>
          <p:cNvSpPr/>
          <p:nvPr/>
        </p:nvSpPr>
        <p:spPr>
          <a:xfrm>
            <a:off x="661493" y="4976317"/>
            <a:ext cx="10869017" cy="10521"/>
          </a:xfrm>
          <a:prstGeom prst="rect">
            <a:avLst/>
          </a:prstGeom>
          <a:solidFill>
            <a:srgbClr val="000000">
              <a:alpha val="8000"/>
            </a:srgbClr>
          </a:solidFill>
          <a:ln/>
        </p:spPr>
      </p:sp>
      <p:sp>
        <p:nvSpPr>
          <p:cNvPr id="12" name="Shape 10"/>
          <p:cNvSpPr/>
          <p:nvPr/>
        </p:nvSpPr>
        <p:spPr>
          <a:xfrm>
            <a:off x="661493" y="5429748"/>
            <a:ext cx="10869017" cy="10521"/>
          </a:xfrm>
          <a:prstGeom prst="rect">
            <a:avLst/>
          </a:prstGeom>
          <a:solidFill>
            <a:srgbClr val="000000">
              <a:alpha val="8000"/>
            </a:srgbClr>
          </a:solidFill>
          <a:ln/>
        </p:spPr>
      </p:sp>
      <p:sp>
        <p:nvSpPr>
          <p:cNvPr id="13" name="Shape 11"/>
          <p:cNvSpPr/>
          <p:nvPr/>
        </p:nvSpPr>
        <p:spPr>
          <a:xfrm>
            <a:off x="661493" y="5883177"/>
            <a:ext cx="10869017" cy="10521"/>
          </a:xfrm>
          <a:prstGeom prst="rect">
            <a:avLst/>
          </a:prstGeom>
          <a:solidFill>
            <a:srgbClr val="000000">
              <a:alpha val="8000"/>
            </a:srgbClr>
          </a:solidFill>
          <a:ln/>
        </p:spPr>
      </p:sp>
      <p:sp>
        <p:nvSpPr>
          <p:cNvPr id="14" name="Shape 12"/>
          <p:cNvSpPr/>
          <p:nvPr/>
        </p:nvSpPr>
        <p:spPr>
          <a:xfrm>
            <a:off x="6096001" y="1345705"/>
            <a:ext cx="10521" cy="4994076"/>
          </a:xfrm>
          <a:prstGeom prst="rect">
            <a:avLst/>
          </a:prstGeom>
          <a:solidFill>
            <a:srgbClr val="000000">
              <a:alpha val="8000"/>
            </a:srgbClr>
          </a:solidFill>
          <a:ln/>
        </p:spPr>
      </p:sp>
      <p:sp>
        <p:nvSpPr>
          <p:cNvPr id="15" name="Shape 13"/>
          <p:cNvSpPr/>
          <p:nvPr/>
        </p:nvSpPr>
        <p:spPr>
          <a:xfrm>
            <a:off x="667842" y="1352054"/>
            <a:ext cx="5428159" cy="450255"/>
          </a:xfrm>
          <a:prstGeom prst="rect">
            <a:avLst/>
          </a:prstGeom>
          <a:solidFill>
            <a:srgbClr val="A2B9F9"/>
          </a:solidFill>
          <a:ln/>
        </p:spPr>
      </p:sp>
      <p:sp>
        <p:nvSpPr>
          <p:cNvPr id="16" name="Text 14"/>
          <p:cNvSpPr/>
          <p:nvPr/>
        </p:nvSpPr>
        <p:spPr>
          <a:xfrm>
            <a:off x="836117" y="1448296"/>
            <a:ext cx="5698033"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Category</a:t>
            </a:r>
            <a:endParaRPr lang="en-US" sz="1267" dirty="0"/>
          </a:p>
        </p:txBody>
      </p:sp>
      <p:sp>
        <p:nvSpPr>
          <p:cNvPr id="17" name="Shape 15"/>
          <p:cNvSpPr/>
          <p:nvPr/>
        </p:nvSpPr>
        <p:spPr>
          <a:xfrm>
            <a:off x="6096001" y="1352054"/>
            <a:ext cx="5428159" cy="450255"/>
          </a:xfrm>
          <a:prstGeom prst="rect">
            <a:avLst/>
          </a:prstGeom>
          <a:solidFill>
            <a:srgbClr val="A2B9F9"/>
          </a:solidFill>
          <a:ln/>
        </p:spPr>
      </p:sp>
      <p:sp>
        <p:nvSpPr>
          <p:cNvPr id="18" name="Text 16"/>
          <p:cNvSpPr/>
          <p:nvPr/>
        </p:nvSpPr>
        <p:spPr>
          <a:xfrm>
            <a:off x="6267452" y="1448296"/>
            <a:ext cx="5698033" cy="254595"/>
          </a:xfrm>
          <a:prstGeom prst="rect">
            <a:avLst/>
          </a:prstGeom>
          <a:noFill/>
          <a:ln/>
        </p:spPr>
        <p:txBody>
          <a:bodyPr wrap="none" lIns="0" tIns="0" rIns="0" bIns="0" rtlCol="0" anchor="t"/>
          <a:lstStyle/>
          <a:p>
            <a:pPr>
              <a:lnSpc>
                <a:spcPct val="126000"/>
              </a:lnSpc>
            </a:pPr>
            <a:r>
              <a:rPr lang="en-US" sz="1267" b="1" dirty="0">
                <a:solidFill>
                  <a:srgbClr val="272525"/>
                </a:solidFill>
                <a:latin typeface="IBM Plex Sans Bold" pitchFamily="34" charset="0"/>
                <a:ea typeface="IBM Plex Sans Bold" pitchFamily="34" charset="-122"/>
                <a:cs typeface="IBM Plex Sans Bold" pitchFamily="34" charset="-120"/>
              </a:rPr>
              <a:t>Technology</a:t>
            </a:r>
            <a:endParaRPr lang="en-US" sz="1267" dirty="0"/>
          </a:p>
        </p:txBody>
      </p:sp>
      <p:sp>
        <p:nvSpPr>
          <p:cNvPr id="19" name="Text 17"/>
          <p:cNvSpPr/>
          <p:nvPr/>
        </p:nvSpPr>
        <p:spPr>
          <a:xfrm>
            <a:off x="836117" y="190172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Programming Language</a:t>
            </a:r>
            <a:endParaRPr lang="en-US" sz="1267" dirty="0"/>
          </a:p>
        </p:txBody>
      </p:sp>
      <p:sp>
        <p:nvSpPr>
          <p:cNvPr id="20" name="Text 18"/>
          <p:cNvSpPr/>
          <p:nvPr/>
        </p:nvSpPr>
        <p:spPr>
          <a:xfrm>
            <a:off x="6267452" y="190172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PHP </a:t>
            </a:r>
            <a:endParaRPr lang="en-US" sz="1267" dirty="0"/>
          </a:p>
        </p:txBody>
      </p:sp>
      <p:sp>
        <p:nvSpPr>
          <p:cNvPr id="21" name="Text 19"/>
          <p:cNvSpPr/>
          <p:nvPr/>
        </p:nvSpPr>
        <p:spPr>
          <a:xfrm>
            <a:off x="836117" y="2355156"/>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Framework</a:t>
            </a:r>
            <a:endParaRPr lang="en-US" sz="1267" dirty="0"/>
          </a:p>
        </p:txBody>
      </p:sp>
      <p:sp>
        <p:nvSpPr>
          <p:cNvPr id="22" name="Text 20"/>
          <p:cNvSpPr/>
          <p:nvPr/>
        </p:nvSpPr>
        <p:spPr>
          <a:xfrm>
            <a:off x="6267452" y="2355156"/>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Laravel</a:t>
            </a:r>
            <a:endParaRPr lang="en-US" sz="1267" dirty="0"/>
          </a:p>
        </p:txBody>
      </p:sp>
      <p:sp>
        <p:nvSpPr>
          <p:cNvPr id="23" name="Text 21"/>
          <p:cNvSpPr/>
          <p:nvPr/>
        </p:nvSpPr>
        <p:spPr>
          <a:xfrm>
            <a:off x="836117" y="280858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Frontend</a:t>
            </a:r>
            <a:endParaRPr lang="en-US" sz="1267" dirty="0"/>
          </a:p>
        </p:txBody>
      </p:sp>
      <p:sp>
        <p:nvSpPr>
          <p:cNvPr id="24" name="Text 22"/>
          <p:cNvSpPr/>
          <p:nvPr/>
        </p:nvSpPr>
        <p:spPr>
          <a:xfrm>
            <a:off x="6267452" y="280858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HTML5, CSS3, Bootstrap 5, JavaScript</a:t>
            </a:r>
            <a:endParaRPr lang="en-US" sz="1267" dirty="0"/>
          </a:p>
        </p:txBody>
      </p:sp>
      <p:sp>
        <p:nvSpPr>
          <p:cNvPr id="25" name="Text 23"/>
          <p:cNvSpPr/>
          <p:nvPr/>
        </p:nvSpPr>
        <p:spPr>
          <a:xfrm>
            <a:off x="836117" y="326201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Template Engine</a:t>
            </a:r>
            <a:endParaRPr lang="en-US" sz="1267" dirty="0"/>
          </a:p>
        </p:txBody>
      </p:sp>
      <p:sp>
        <p:nvSpPr>
          <p:cNvPr id="26" name="Text 24"/>
          <p:cNvSpPr/>
          <p:nvPr/>
        </p:nvSpPr>
        <p:spPr>
          <a:xfrm>
            <a:off x="6267452" y="326201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Laravel Blade</a:t>
            </a:r>
            <a:endParaRPr lang="en-US" sz="1267" dirty="0"/>
          </a:p>
        </p:txBody>
      </p:sp>
      <p:sp>
        <p:nvSpPr>
          <p:cNvPr id="27" name="Text 25"/>
          <p:cNvSpPr/>
          <p:nvPr/>
        </p:nvSpPr>
        <p:spPr>
          <a:xfrm>
            <a:off x="836117" y="3715444"/>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Database</a:t>
            </a:r>
            <a:endParaRPr lang="en-US" sz="1267" dirty="0"/>
          </a:p>
        </p:txBody>
      </p:sp>
      <p:sp>
        <p:nvSpPr>
          <p:cNvPr id="28" name="Text 26"/>
          <p:cNvSpPr/>
          <p:nvPr/>
        </p:nvSpPr>
        <p:spPr>
          <a:xfrm>
            <a:off x="6267452" y="3715444"/>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MySQL</a:t>
            </a:r>
            <a:endParaRPr lang="en-US" sz="1267" dirty="0"/>
          </a:p>
        </p:txBody>
      </p:sp>
      <p:sp>
        <p:nvSpPr>
          <p:cNvPr id="29" name="Text 27"/>
          <p:cNvSpPr/>
          <p:nvPr/>
        </p:nvSpPr>
        <p:spPr>
          <a:xfrm>
            <a:off x="836117" y="416887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ORM</a:t>
            </a:r>
            <a:endParaRPr lang="en-US" sz="1267" dirty="0"/>
          </a:p>
        </p:txBody>
      </p:sp>
      <p:sp>
        <p:nvSpPr>
          <p:cNvPr id="30" name="Text 28"/>
          <p:cNvSpPr/>
          <p:nvPr/>
        </p:nvSpPr>
        <p:spPr>
          <a:xfrm>
            <a:off x="6267452" y="4168875"/>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Laravel Eloquent ORM</a:t>
            </a:r>
            <a:endParaRPr lang="en-US" sz="1267" dirty="0"/>
          </a:p>
        </p:txBody>
      </p:sp>
      <p:sp>
        <p:nvSpPr>
          <p:cNvPr id="31" name="Text 29"/>
          <p:cNvSpPr/>
          <p:nvPr/>
        </p:nvSpPr>
        <p:spPr>
          <a:xfrm>
            <a:off x="836117" y="4622304"/>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Web Server</a:t>
            </a:r>
            <a:endParaRPr lang="en-US" sz="1267" dirty="0"/>
          </a:p>
        </p:txBody>
      </p:sp>
      <p:sp>
        <p:nvSpPr>
          <p:cNvPr id="32" name="Text 30"/>
          <p:cNvSpPr/>
          <p:nvPr/>
        </p:nvSpPr>
        <p:spPr>
          <a:xfrm>
            <a:off x="6267452" y="4622304"/>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Apache (XAMPP)</a:t>
            </a:r>
            <a:endParaRPr lang="en-US" sz="1267" dirty="0"/>
          </a:p>
        </p:txBody>
      </p:sp>
      <p:sp>
        <p:nvSpPr>
          <p:cNvPr id="33" name="Text 31"/>
          <p:cNvSpPr/>
          <p:nvPr/>
        </p:nvSpPr>
        <p:spPr>
          <a:xfrm>
            <a:off x="836117" y="507573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Package Manager</a:t>
            </a:r>
            <a:endParaRPr lang="en-US" sz="1267" dirty="0"/>
          </a:p>
        </p:txBody>
      </p:sp>
      <p:sp>
        <p:nvSpPr>
          <p:cNvPr id="34" name="Text 32"/>
          <p:cNvSpPr/>
          <p:nvPr/>
        </p:nvSpPr>
        <p:spPr>
          <a:xfrm>
            <a:off x="6267452" y="507573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Composer</a:t>
            </a:r>
            <a:endParaRPr lang="en-US" sz="1267" dirty="0"/>
          </a:p>
        </p:txBody>
      </p:sp>
      <p:sp>
        <p:nvSpPr>
          <p:cNvPr id="35" name="Text 33"/>
          <p:cNvSpPr/>
          <p:nvPr/>
        </p:nvSpPr>
        <p:spPr>
          <a:xfrm>
            <a:off x="836117" y="552916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IDE</a:t>
            </a:r>
            <a:endParaRPr lang="en-US" sz="1267" dirty="0"/>
          </a:p>
        </p:txBody>
      </p:sp>
      <p:sp>
        <p:nvSpPr>
          <p:cNvPr id="36" name="Text 34"/>
          <p:cNvSpPr/>
          <p:nvPr/>
        </p:nvSpPr>
        <p:spPr>
          <a:xfrm>
            <a:off x="6267452" y="552916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Visual Studio Code</a:t>
            </a:r>
            <a:endParaRPr lang="en-US" sz="1267" dirty="0"/>
          </a:p>
        </p:txBody>
      </p:sp>
      <p:sp>
        <p:nvSpPr>
          <p:cNvPr id="37" name="Text 35"/>
          <p:cNvSpPr/>
          <p:nvPr/>
        </p:nvSpPr>
        <p:spPr>
          <a:xfrm>
            <a:off x="836117" y="598259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Version Control</a:t>
            </a:r>
            <a:endParaRPr lang="en-US" sz="1267" dirty="0"/>
          </a:p>
        </p:txBody>
      </p:sp>
      <p:sp>
        <p:nvSpPr>
          <p:cNvPr id="38" name="Text 36"/>
          <p:cNvSpPr/>
          <p:nvPr/>
        </p:nvSpPr>
        <p:spPr>
          <a:xfrm>
            <a:off x="6267452" y="5982593"/>
            <a:ext cx="5698033" cy="254595"/>
          </a:xfrm>
          <a:prstGeom prst="rect">
            <a:avLst/>
          </a:prstGeom>
          <a:noFill/>
          <a:ln/>
        </p:spPr>
        <p:txBody>
          <a:bodyPr wrap="none" lIns="0" tIns="0" rIns="0" bIns="0" rtlCol="0" anchor="t"/>
          <a:lstStyle/>
          <a:p>
            <a:pPr>
              <a:lnSpc>
                <a:spcPct val="126000"/>
              </a:lnSpc>
            </a:pPr>
            <a:r>
              <a:rPr lang="en-US" sz="1267" dirty="0">
                <a:latin typeface="IBM Plex Sans" pitchFamily="34" charset="0"/>
                <a:ea typeface="IBM Plex Sans" pitchFamily="34" charset="-122"/>
                <a:cs typeface="IBM Plex Sans" pitchFamily="34" charset="-120"/>
              </a:rPr>
              <a:t>Git &amp; GitHub</a:t>
            </a:r>
            <a:endParaRPr lang="en-US" sz="1267" dirty="0"/>
          </a:p>
        </p:txBody>
      </p:sp>
      <p:pic>
        <p:nvPicPr>
          <p:cNvPr id="40" name="Picture 4" descr="Kadi Sarva Vishwavidyalaya | Kar bhala Hoga Bhala">
            <a:extLst>
              <a:ext uri="{FF2B5EF4-FFF2-40B4-BE49-F238E27FC236}">
                <a16:creationId xmlns:a16="http://schemas.microsoft.com/office/drawing/2014/main" id="{6C4AA2B3-35C4-4AF3-7792-A9493B148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084" y="209974"/>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C:\Users\staff\Downloads\SVICS LOGO.png">
            <a:extLst>
              <a:ext uri="{FF2B5EF4-FFF2-40B4-BE49-F238E27FC236}">
                <a16:creationId xmlns:a16="http://schemas.microsoft.com/office/drawing/2014/main" id="{0ACEE200-CD56-75C8-825E-339195F70BC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81641" y="175141"/>
            <a:ext cx="817778" cy="8145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289086" y="316507"/>
            <a:ext cx="7613827" cy="590649"/>
          </a:xfrm>
          <a:prstGeom prst="rect">
            <a:avLst/>
          </a:prstGeom>
          <a:noFill/>
          <a:ln/>
        </p:spPr>
        <p:txBody>
          <a:bodyPr wrap="none" lIns="0" tIns="0" rIns="0" bIns="0" rtlCol="0" anchor="t"/>
          <a:lstStyle/>
          <a:p>
            <a:pPr>
              <a:lnSpc>
                <a:spcPct val="104000"/>
              </a:lnSpc>
            </a:pPr>
            <a:r>
              <a:rPr lang="en-US" sz="3200" dirty="0">
                <a:solidFill>
                  <a:srgbClr val="3F6FF3"/>
                </a:solidFill>
                <a:latin typeface="Outfit Medium" pitchFamily="34" charset="0"/>
                <a:ea typeface="Outfit Medium" pitchFamily="34" charset="-122"/>
                <a:cs typeface="Outfit Medium" pitchFamily="34" charset="-120"/>
              </a:rPr>
              <a:t>Hardware &amp; Software Requirements</a:t>
            </a:r>
            <a:endParaRPr lang="en-US" sz="3200" dirty="0"/>
          </a:p>
        </p:txBody>
      </p:sp>
      <p:sp>
        <p:nvSpPr>
          <p:cNvPr id="3" name="Text 1"/>
          <p:cNvSpPr/>
          <p:nvPr/>
        </p:nvSpPr>
        <p:spPr>
          <a:xfrm>
            <a:off x="661493" y="1338261"/>
            <a:ext cx="5203924" cy="295275"/>
          </a:xfrm>
          <a:prstGeom prst="rect">
            <a:avLst/>
          </a:prstGeom>
          <a:noFill/>
          <a:ln/>
        </p:spPr>
        <p:txBody>
          <a:bodyPr wrap="none" lIns="0" tIns="0" rIns="0" bIns="0" rtlCol="0" anchor="t"/>
          <a:lstStyle/>
          <a:p>
            <a:pPr>
              <a:lnSpc>
                <a:spcPct val="104000"/>
              </a:lnSpc>
            </a:pPr>
            <a:r>
              <a:rPr lang="en-US" sz="2400" u="sng" dirty="0">
                <a:solidFill>
                  <a:srgbClr val="3F6FF3"/>
                </a:solidFill>
                <a:latin typeface="Outfit Medium" pitchFamily="34" charset="0"/>
                <a:ea typeface="Outfit Medium" pitchFamily="34" charset="-122"/>
                <a:cs typeface="Outfit Medium" pitchFamily="34" charset="-120"/>
              </a:rPr>
              <a:t>Hardware Requirements</a:t>
            </a:r>
            <a:endParaRPr lang="en-US" sz="2400" u="sng" dirty="0"/>
          </a:p>
        </p:txBody>
      </p:sp>
      <p:sp>
        <p:nvSpPr>
          <p:cNvPr id="4" name="Text 2"/>
          <p:cNvSpPr/>
          <p:nvPr/>
        </p:nvSpPr>
        <p:spPr>
          <a:xfrm>
            <a:off x="661493" y="1762222"/>
            <a:ext cx="5813524" cy="302419"/>
          </a:xfrm>
          <a:prstGeom prst="rect">
            <a:avLst/>
          </a:prstGeom>
          <a:noFill/>
          <a:ln/>
        </p:spPr>
        <p:txBody>
          <a:bodyPr wrap="none" lIns="0" tIns="0" rIns="0" bIns="0" rtlCol="0" anchor="t"/>
          <a:lstStyle/>
          <a:p>
            <a:pPr>
              <a:lnSpc>
                <a:spcPct val="133000"/>
              </a:lnSpc>
            </a:pPr>
            <a:r>
              <a:rPr lang="en-US" sz="1600" b="1" dirty="0">
                <a:solidFill>
                  <a:srgbClr val="666666"/>
                </a:solidFill>
                <a:latin typeface="IBM Plex Sans Bold" pitchFamily="34" charset="0"/>
                <a:ea typeface="IBM Plex Sans Bold" pitchFamily="34" charset="-122"/>
                <a:cs typeface="IBM Plex Sans Bold" pitchFamily="34" charset="-120"/>
              </a:rPr>
              <a:t>Developer / Server:</a:t>
            </a:r>
            <a:endParaRPr lang="en-US" sz="1600" dirty="0"/>
          </a:p>
        </p:txBody>
      </p:sp>
      <p:sp>
        <p:nvSpPr>
          <p:cNvPr id="5" name="Text 3"/>
          <p:cNvSpPr/>
          <p:nvPr/>
        </p:nvSpPr>
        <p:spPr>
          <a:xfrm>
            <a:off x="771221" y="2116732"/>
            <a:ext cx="5203924" cy="1407915"/>
          </a:xfrm>
          <a:prstGeom prst="rect">
            <a:avLst/>
          </a:prstGeom>
          <a:noFill/>
          <a:ln/>
        </p:spPr>
        <p:txBody>
          <a:bodyPr wrap="square" lIns="0" tIns="0" rIns="0" bIns="0" rtlCol="0" anchor="t">
            <a:normAutofit/>
          </a:bodyPr>
          <a:lstStyle/>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Intel Core i3/i5 Processor or higher</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8 GB RAM (Minimum)</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256 GB SSD</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Stable Internet Connection</a:t>
            </a:r>
            <a:endParaRPr lang="en-US" sz="1600" dirty="0"/>
          </a:p>
        </p:txBody>
      </p:sp>
      <p:sp>
        <p:nvSpPr>
          <p:cNvPr id="6" name="Text 4"/>
          <p:cNvSpPr/>
          <p:nvPr/>
        </p:nvSpPr>
        <p:spPr>
          <a:xfrm>
            <a:off x="590452" y="3648001"/>
            <a:ext cx="5813524" cy="302419"/>
          </a:xfrm>
          <a:prstGeom prst="rect">
            <a:avLst/>
          </a:prstGeom>
          <a:noFill/>
          <a:ln/>
        </p:spPr>
        <p:txBody>
          <a:bodyPr wrap="none" lIns="0" tIns="0" rIns="0" bIns="0" rtlCol="0" anchor="t"/>
          <a:lstStyle/>
          <a:p>
            <a:pPr>
              <a:lnSpc>
                <a:spcPct val="133000"/>
              </a:lnSpc>
            </a:pPr>
            <a:r>
              <a:rPr lang="en-US" sz="1600" b="1" dirty="0">
                <a:solidFill>
                  <a:srgbClr val="666666"/>
                </a:solidFill>
                <a:latin typeface="IBM Plex Sans Bold" pitchFamily="34" charset="0"/>
                <a:ea typeface="IBM Plex Sans Bold" pitchFamily="34" charset="-122"/>
                <a:cs typeface="IBM Plex Sans Bold" pitchFamily="34" charset="-120"/>
              </a:rPr>
              <a:t>Client / User:</a:t>
            </a:r>
            <a:endParaRPr lang="en-US" sz="1600" dirty="0"/>
          </a:p>
        </p:txBody>
      </p:sp>
      <p:sp>
        <p:nvSpPr>
          <p:cNvPr id="7" name="Text 5"/>
          <p:cNvSpPr/>
          <p:nvPr/>
        </p:nvSpPr>
        <p:spPr>
          <a:xfrm>
            <a:off x="771221" y="3890479"/>
            <a:ext cx="5203924" cy="1039416"/>
          </a:xfrm>
          <a:prstGeom prst="rect">
            <a:avLst/>
          </a:prstGeom>
          <a:noFill/>
          <a:ln/>
        </p:spPr>
        <p:txBody>
          <a:bodyPr wrap="square" lIns="0" tIns="0" rIns="0" bIns="0" rtlCol="0" anchor="t">
            <a:normAutofit/>
          </a:bodyPr>
          <a:lstStyle/>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Desktop or Laptop</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Android / iOS Smartphone</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Internet Connection</a:t>
            </a:r>
            <a:endParaRPr lang="en-US" sz="1600" dirty="0"/>
          </a:p>
        </p:txBody>
      </p:sp>
      <p:sp>
        <p:nvSpPr>
          <p:cNvPr id="8" name="Text 6"/>
          <p:cNvSpPr/>
          <p:nvPr/>
        </p:nvSpPr>
        <p:spPr>
          <a:xfrm>
            <a:off x="6332935" y="1292323"/>
            <a:ext cx="5203924" cy="295275"/>
          </a:xfrm>
          <a:prstGeom prst="rect">
            <a:avLst/>
          </a:prstGeom>
          <a:noFill/>
          <a:ln/>
        </p:spPr>
        <p:txBody>
          <a:bodyPr wrap="none" lIns="0" tIns="0" rIns="0" bIns="0" rtlCol="0" anchor="t"/>
          <a:lstStyle/>
          <a:p>
            <a:pPr>
              <a:lnSpc>
                <a:spcPct val="104000"/>
              </a:lnSpc>
            </a:pPr>
            <a:r>
              <a:rPr lang="en-US" sz="2400" u="sng" dirty="0">
                <a:solidFill>
                  <a:srgbClr val="3F6FF3"/>
                </a:solidFill>
                <a:latin typeface="Outfit Medium" pitchFamily="34" charset="0"/>
                <a:ea typeface="Outfit Medium" pitchFamily="34" charset="-122"/>
                <a:cs typeface="Outfit Medium" pitchFamily="34" charset="-120"/>
              </a:rPr>
              <a:t>Software Requirements</a:t>
            </a:r>
            <a:endParaRPr lang="en-US" sz="2400" u="sng" dirty="0"/>
          </a:p>
        </p:txBody>
      </p:sp>
      <p:sp>
        <p:nvSpPr>
          <p:cNvPr id="9" name="Text 7"/>
          <p:cNvSpPr/>
          <p:nvPr/>
        </p:nvSpPr>
        <p:spPr>
          <a:xfrm>
            <a:off x="6655786" y="1762222"/>
            <a:ext cx="5203924" cy="2881908"/>
          </a:xfrm>
          <a:prstGeom prst="rect">
            <a:avLst/>
          </a:prstGeom>
          <a:noFill/>
          <a:ln/>
        </p:spPr>
        <p:txBody>
          <a:bodyPr wrap="square" lIns="0" tIns="0" rIns="0" bIns="0" rtlCol="0" anchor="t">
            <a:normAutofit/>
          </a:bodyPr>
          <a:lstStyle/>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Windows 10/11</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XAMPP (Apache)</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PHP 8.x</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Laravel Framework</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MySQL</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Composer</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Visual Studio Code</a:t>
            </a:r>
            <a:endParaRPr lang="en-US" sz="1600" dirty="0"/>
          </a:p>
          <a:p>
            <a:pPr marL="298019" indent="-298019">
              <a:lnSpc>
                <a:spcPct val="133000"/>
              </a:lnSpc>
              <a:buSzPct val="100000"/>
              <a:buChar char="•"/>
            </a:pPr>
            <a:r>
              <a:rPr lang="en-US" sz="1600" dirty="0">
                <a:latin typeface="IBM Plex Sans" pitchFamily="34" charset="0"/>
                <a:ea typeface="IBM Plex Sans" pitchFamily="34" charset="-122"/>
                <a:cs typeface="IBM Plex Sans" pitchFamily="34" charset="-120"/>
              </a:rPr>
              <a:t>Google Chrome / Microsoft Edge / Mozilla Firefox</a:t>
            </a:r>
            <a:endParaRPr lang="en-US" sz="1600" dirty="0"/>
          </a:p>
        </p:txBody>
      </p:sp>
      <p:pic>
        <p:nvPicPr>
          <p:cNvPr id="11" name="Picture 4" descr="Kadi Sarva Vishwavidyalaya | Kar bhala Hoga Bhala">
            <a:extLst>
              <a:ext uri="{FF2B5EF4-FFF2-40B4-BE49-F238E27FC236}">
                <a16:creationId xmlns:a16="http://schemas.microsoft.com/office/drawing/2014/main" id="{301B197F-4363-645B-83D5-F0F549DF1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64" y="174617"/>
            <a:ext cx="759221" cy="77974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Users\staff\Downloads\SVICS LOGO.png">
            <a:extLst>
              <a:ext uri="{FF2B5EF4-FFF2-40B4-BE49-F238E27FC236}">
                <a16:creationId xmlns:a16="http://schemas.microsoft.com/office/drawing/2014/main" id="{AAB59931-CE3F-4A1F-F8D9-FE0CC9BFDDE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35921" y="139784"/>
            <a:ext cx="817778" cy="8145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D6340-F12C-342A-B745-238BF1D3B7B6}"/>
            </a:ext>
          </a:extLst>
        </p:cNvPr>
        <p:cNvGrpSpPr/>
        <p:nvPr/>
      </p:nvGrpSpPr>
      <p:grpSpPr>
        <a:xfrm>
          <a:off x="0" y="0"/>
          <a:ext cx="0" cy="0"/>
          <a:chOff x="0" y="0"/>
          <a:chExt cx="0" cy="0"/>
        </a:xfrm>
      </p:grpSpPr>
    </p:spTree>
    <p:extLst>
      <p:ext uri="{BB962C8B-B14F-4D97-AF65-F5344CB8AC3E}">
        <p14:creationId xmlns:p14="http://schemas.microsoft.com/office/powerpoint/2010/main" val="2324415085"/>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2743200"/>
          </a:xfrm>
          <a:prstGeom prst="rect">
            <a:avLst/>
          </a:prstGeom>
          <a:noFill/>
        </p:spPr>
        <p:txBody>
          <a:bodyPr wrap="none">
            <a:spAutoFit/>
          </a:bodyPr>
          <a:lstStyle/>
          <a:p>
            <a:pPr algn="ctr">
              <a:defRPr b="1" sz="3600">
                <a:solidFill>
                  <a:srgbClr val="1E3A8A"/>
                </a:solidFill>
              </a:defRPr>
            </a:pPr>
            <a:r>
              <a:t>Task 3: Database Design</a:t>
            </a:r>
          </a:p>
          <a:p>
            <a:pPr algn="ctr">
              <a:defRPr sz="1800">
                <a:solidFill>
                  <a:srgbClr val="475569"/>
                </a:solidFill>
              </a:defRPr>
            </a:pPr>
            <a:r>
              <a:t>• Entity-Relationship (E-R) Diagram</a:t>
            </a:r>
            <a:br/>
            <a:r>
              <a:t>• Data Dictionary (Master &amp; Transaction Tables with 10 Sample Records)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b="1" sz="2400">
                <a:solidFill>
                  <a:srgbClr val="0F172A"/>
                </a:solidFill>
              </a:defRPr>
            </a:pPr>
            <a:r>
              <a:t>Task 3: Entity-Relationship (E-R) Diagram Overview</a:t>
            </a:r>
          </a:p>
        </p:txBody>
      </p:sp>
      <p:sp>
        <p:nvSpPr>
          <p:cNvPr id="3" name="TextBox 2"/>
          <p:cNvSpPr txBox="1"/>
          <p:nvPr/>
        </p:nvSpPr>
        <p:spPr>
          <a:xfrm>
            <a:off x="457200" y="1188720"/>
            <a:ext cx="8229600" cy="5029200"/>
          </a:xfrm>
          <a:prstGeom prst="rect">
            <a:avLst/>
          </a:prstGeom>
          <a:noFill/>
        </p:spPr>
        <p:txBody>
          <a:bodyPr wrap="square">
            <a:spAutoFit/>
          </a:bodyPr>
          <a:lstStyle/>
          <a:p/>
          <a:p>
            <a:pPr>
              <a:defRPr sz="1600" b="1">
                <a:solidFill>
                  <a:srgbClr val="1E3A8A"/>
                </a:solidFill>
              </a:defRPr>
            </a:pPr>
            <a:r>
              <a:t>Master Entities: Users (Customers &amp; Admins), Cars (Vehicle Fleet).</a:t>
            </a:r>
          </a:p>
          <a:p>
            <a:pPr>
              <a:defRPr sz="1600" b="1">
                <a:solidFill>
                  <a:srgbClr val="1E3A8A"/>
                </a:solidFill>
              </a:defRPr>
            </a:pPr>
            <a:r>
              <a:t>Transaction Entities: Bookings, Payments, Documents, Maintenance Records, Car Images.</a:t>
            </a:r>
          </a:p>
          <a:p>
            <a:pPr>
              <a:defRPr sz="1600" b="1">
                <a:solidFill>
                  <a:srgbClr val="1E3A8A"/>
                </a:solidFill>
              </a:defRPr>
            </a:pPr>
            <a:r>
              <a:t>Key Relationships:</a:t>
            </a:r>
          </a:p>
          <a:p>
            <a:pPr>
              <a:defRPr sz="1600"/>
            </a:pPr>
            <a:r>
              <a:t>  • Users (1) ─── (N) Bookings [Places]</a:t>
            </a:r>
          </a:p>
          <a:p>
            <a:pPr>
              <a:defRPr sz="1600"/>
            </a:pPr>
            <a:r>
              <a:t>  • Cars (1) ─── (N) Bookings [Reserved in]</a:t>
            </a:r>
          </a:p>
          <a:p>
            <a:pPr>
              <a:defRPr sz="1600"/>
            </a:pPr>
            <a:r>
              <a:t>  • Bookings (1) ─── (N) Payments [Financial Transactions]</a:t>
            </a:r>
          </a:p>
          <a:p>
            <a:pPr>
              <a:defRPr sz="1600"/>
            </a:pPr>
            <a:r>
              <a:t>  • Users (1) ─── (N) Documents [Identity Verification]</a:t>
            </a:r>
          </a:p>
          <a:p>
            <a:pPr>
              <a:defRPr sz="1600"/>
            </a:pPr>
            <a:r>
              <a:t>  • Cars (1) ─── (N) Maintenance Records [Servicing Logs]</a:t>
            </a:r>
          </a:p>
          <a:p>
            <a:pPr>
              <a:defRPr sz="1600"/>
            </a:pPr>
            <a:r>
              <a:t>  • Cars (1) ─── (N) Car Images [Gallery Showcase]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1033</Words>
  <Application>Microsoft Office PowerPoint</Application>
  <PresentationFormat>Widescreen</PresentationFormat>
  <Paragraphs>152</Paragraphs>
  <Slides>10</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Calibri Light</vt:lpstr>
      <vt:lpstr>IBM Plex Sans</vt:lpstr>
      <vt:lpstr>IBM Plex Sans Bold</vt:lpstr>
      <vt:lpstr>Outfit Medium</vt:lpstr>
      <vt:lpstr>Times New Roman</vt:lpstr>
      <vt:lpstr>Office Theme</vt:lpstr>
      <vt:lpstr>Kadi Sarva Vishwavidyalaya</vt:lpstr>
      <vt:lpstr>Title:- Car Rental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Kadi Sarva Vishwavidyalaya</dc:title>
  <dc:creator>abhijeet</dc:creator>
  <cp:lastModifiedBy>Rai Rajan</cp:lastModifiedBy>
  <cp:revision>15</cp:revision>
  <dcterms:created xsi:type="dcterms:W3CDTF">2021-01-02T05:09:32Z</dcterms:created>
  <dcterms:modified xsi:type="dcterms:W3CDTF">2026-08-05T11:32:13Z</dcterms:modified>
</cp:coreProperties>
</file>